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8"/>
  </p:notesMasterIdLst>
  <p:sldIdLst>
    <p:sldId id="256" r:id="rId5"/>
    <p:sldId id="442" r:id="rId24"/>
    <p:sldId id="443" r:id="rId25"/>
    <p:sldId id="444" r:id="rId26"/>
    <p:sldId id="445" r:id="rId27"/>
    <p:sldId id="446" r:id="rId28"/>
    <p:sldId id="447" r:id="rId29"/>
    <p:sldId id="448" r:id="rId30"/>
    <p:sldId id="449" r:id="rId31"/>
    <p:sldId id="450" r:id="rId32"/>
    <p:sldId id="451" r:id="rId33"/>
    <p:sldId id="452" r:id="rId3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子嘉 曾" initials="子嘉" lastIdx="2" clrIdx="0">
    <p:extLst>
      <p:ext uri="{19B8F6BF-5375-455C-9EA6-DF929625EA0E}">
        <p15:presenceInfo xmlns:p15="http://schemas.microsoft.com/office/powerpoint/2012/main" userId="子嘉 曾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D8F"/>
    <a:srgbClr val="0033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1" autoAdjust="0"/>
    <p:restoredTop sz="78031" autoAdjust="0"/>
  </p:normalViewPr>
  <p:slideViewPr>
    <p:cSldViewPr snapToGrid="0">
      <p:cViewPr varScale="1">
        <p:scale>
          <a:sx n="110" d="100"/>
          <a:sy n="110" d="100"/>
        </p:scale>
        <p:origin x="558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2" Type="http://schemas.openxmlformats.org/officeDocument/2006/relationships/customXml" Target="../customXml/item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5" Type="http://schemas.openxmlformats.org/officeDocument/2006/relationships/slide" Target="slides/slide1.xml"/><Relationship Id="rId23" Type="http://schemas.openxmlformats.org/officeDocument/2006/relationships/tableStyles" Target="tableStyles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22" Type="http://schemas.openxmlformats.org/officeDocument/2006/relationships/theme" Target="theme/theme1.xml"/>  <Relationship Id="rId24" Type="http://schemas.openxmlformats.org/officeDocument/2006/relationships/slide" Target="slides/slide11.xml"/>
  <Relationship Id="rId25" Type="http://schemas.openxmlformats.org/officeDocument/2006/relationships/slide" Target="slides/slide12.xml"/>
  <Relationship Id="rId26" Type="http://schemas.openxmlformats.org/officeDocument/2006/relationships/slide" Target="slides/slide13.xml"/>
  <Relationship Id="rId27" Type="http://schemas.openxmlformats.org/officeDocument/2006/relationships/slide" Target="slides/slide14.xml"/>
  <Relationship Id="rId28" Type="http://schemas.openxmlformats.org/officeDocument/2006/relationships/slide" Target="slides/slide15.xml"/>
  <Relationship Id="rId29" Type="http://schemas.openxmlformats.org/officeDocument/2006/relationships/slide" Target="slides/slide16.xml"/>
  <Relationship Id="rId30" Type="http://schemas.openxmlformats.org/officeDocument/2006/relationships/slide" Target="slides/slide17.xml"/>
  <Relationship Id="rId31" Type="http://schemas.openxmlformats.org/officeDocument/2006/relationships/slide" Target="slides/slide18.xml"/>
  <Relationship Id="rId32" Type="http://schemas.openxmlformats.org/officeDocument/2006/relationships/slide" Target="slides/slide19.xml"/>
  <Relationship Id="rId33" Type="http://schemas.openxmlformats.org/officeDocument/2006/relationships/slide" Target="slides/slide20.xml"/>
  <Relationship Id="rId34" Type="http://schemas.openxmlformats.org/officeDocument/2006/relationships/slide" Target="slides/slide2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F9BC36-B244-4E7A-981C-047D427D56BB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73369-BF79-441B-987B-EB4FF335C5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574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老師好。今天報告的問題是：為機器人用的世界模型設計推論晶片，應該和現在的大型語言模型加速器有什麼不同。</a:t>
            </a: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的結論是：語言模型加速器是為「長度不定、狀態不斷長大、每次只算一個向量」的迴圈設計的；機器人世界模型則是「形狀固定、步數很少、每次算一個中等大小矩陣」的靜態計算。所以該投資的不是更大的陣列或更大的記憶體，而是小型陣列、依重用率區分的權重存放策略，以及靜態排程。</a:t>
            </a: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分析了十幾個開源的機器人模型，涵蓋直接輸出動作的模型、預測未來影片的模型，以及在潛在空間做規劃的模型，並以語言模型作對照。所有架構參數都讀自原始碼，計算量直接計數，再用週期級模擬器評估陣列利用率。研究由三個 AI 協作者分工撰寫並互相審查。</a:t>
            </a:r>
          </a:p>
          <a:p>
            <a:r>
              <a:rPr lang="zh-TW" altLang="en-US" dirty="0"/>
              <a:t>貫穿整份研究的觀念是：瓶頸不屬於某一類模型，而屬於「哪個運算階段、跑在哪種硬體上」。所以設計晶片時，要先把模型拆成階段，再逐一對照硬體。</a:t>
            </a: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第一類是直接輸出動作的模型。它先用大型視覺語言模型把畫面看一次，再用小型動作網路反覆修正一整段動作。瓶頸在後段：每修正一次就要重讀小網路的權重，但每次只處理幾十列資料，運算單元大半閒置。和語言模型的差別在於被重讀的網路小到有機會放進晶片內，而且每次處理的是矩陣而不是向量。</a:t>
            </a:r>
          </a:p>
          <a:p>
            <a:r>
              <a:rPr lang="zh-TW" altLang="en-US" dirty="0"/>
              <a:t>第二類是預測未來影片的模型，每一步都要處理整段影片的大量 token，是算力與中間資料量壓力，前後還有大型三維卷積編解碼器。部分模型會跨段保存歷史記憶，這是唯一接近語言模型、需要大量狀態記憶體的情況。</a:t>
            </a:r>
          </a:p>
          <a:p>
            <a:r>
              <a:rPr lang="zh-TW" altLang="en-US" dirty="0"/>
              <a:t>第三類是在潛在空間做規劃的模型，平行想像幾百條候選未來，是唯一能用平行候選填滿硬體的機器人工作負載。</a:t>
            </a: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我們發現，狀態用一個緊湊向量還是一大組 token 表示，會讓硬體需求相差好幾個數量級；這個選擇比候選數或預測步數都重要，應該是晶片規格的第一個參數。我們也發現，讓動作模型一次多產生一些候選，幾乎不增加時間，因為多出的候選可以搭在原本就要做的權重讀取上。</a:t>
            </a:r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逐項檢視了過去幾年語言模型的加速技巧。只有低精度權重是對所有類別都有效的通用解。語言模型最具代表性的技巧，例如分頁式記憶體管理、跨使用者動態批次、投機解碼，都建立在「狀態會長大」和「有很多使用者可以合併」這兩個前提上，而機器人兩者都沒有。影片模型真正有效的，則是擴散模型才有的槓桿：減少去噪步數，以及在步與步之間重用計算。</a:t>
            </a: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陣列層級的模擬也支持這個判斷。語言模型加速器常用一個大型的權重固定陣列，再加上專門算向量的引擎。但機器人模型的主要運算是幾十到幾百列的中等矩陣：在大型陣列上，大部分運算單元閒置；同樣的運算單元總數若切成多個小陣列，並讓每個矩陣自行選擇資料流動方式，利用率可以大幅提高，而且跑大矩陣時不會變差。把小網路權重放在晶片內，只有搭配小陣列才真正有效；兩者要一起做。</a:t>
            </a: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為了驗證這些觀念，我們解剖了一個新的世界動作模型 Flex-π。它用大型影片模型當主幹，再加一個較小的動作網路；同一份權重可以在執行時選擇只輸出動作，或連未來畫面一起預測。我們從原始碼算出的計算量，和官方實測延遲高度吻合。</a:t>
            </a:r>
          </a:p>
          <a:p>
            <a:r>
              <a:rPr lang="zh-TW" altLang="en-US" dirty="0"/>
              <a:t>它每次推論分兩段：先把當下畫面送進大主幹一次，存下每層的注意力資料；再從雜訊出發，把一整段動作修正四次，每次都讀取剛才存的資料。</a:t>
            </a:r>
          </a:p>
          <a:p>
            <a:r>
              <a:rPr lang="zh-TW" altLang="en-US" dirty="0"/>
              <a:t>這個案例顯示三個和語言模型根本不同的地方：成本主體在每次重做的前段；大主幹與小網路的重用率兩極；存下的資料不是快取，跨推論不能重用。我們也從原始碼找到一些可以直接刪掉、結果完全不變的計算。把這些和小陣列、權重放晶片內一起做，延遲可以降到語言模型式設計的一半以下。</a:t>
            </a: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綜合以上，我們建議的晶片和語言模型加速器有五個區別。第一，用多個小陣列取代單一大陣列，不做專門算向量的引擎。第二，權重依重用率分兩路：反覆讀的小網路放晶片內，只讀一次的大主幹用低精度從外部串流；外部記憶體以頻寬為優先。第三，狀態大小在編譯時就已知，不需要動態管理。第四，編譯器把每種推論模式編成固定排程，刪除冗餘計算，並提供可保證的最壞延遲，這對閉迴路控制比平均吞吐量更重要。第五，要有適合三維卷積的前端，而注意力只需要一個能處理結構化遮罩的小單元。</a:t>
            </a: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規格上有三個需要先決定的取捨：要不要支援需要大量歷史記憶的影片模型；小網路要放晶片內，還是改用一次多產生候選的方式來分攤讀取；以及大主幹的精度要壓到多低。</a:t>
            </a: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些結論都來自原始碼計數、理論估算和模擬，不是晶片實測；我們也還沒有實際執行那個大型模型。互審過程中，我們撤回了一項加速宣稱，也修正了陣列模型的排程假設；也接受了提醒：矩陣運算加速之後，正規化、排序這類非矩陣運算可能變成新瓶頸，這一點尚未量化。</a:t>
            </a:r>
          </a:p>
          <a:p>
            <a:r>
              <a:rPr lang="zh-TW" altLang="en-US" dirty="0"/>
              <a:t>下一步是在 GPU 上實測兩件事：一次多產生候選是否真的幾乎不增加時間，以及刪除冗餘計算的實際效益。若前者不成立，我們會撤回「動作網路受頻寬限制」的結論。</a:t>
            </a: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總結一句話：機器人世界模型的晶片，差異化的方向不是更大，而是更貼合它固定、短而中等大小的計算形狀。最後想請教老師三個問題：一，多個小陣列帶來的互連與控制成本，會吃掉多少利用率上的好處？二，把小網路權重放進晶片內需要相當大的 SRAM，老師認為這值得，還是應該優先用多候選來分攤讀取？三，若要往硬體原型推進，應該先驗證哪一個單元？報告到這裡，謝謝老師。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接點 3"/>
          <p:cNvCxnSpPr/>
          <p:nvPr/>
        </p:nvCxnSpPr>
        <p:spPr>
          <a:xfrm>
            <a:off x="952502" y="3714750"/>
            <a:ext cx="11239500" cy="1588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r">
              <a:buNone/>
              <a:defRPr sz="28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6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D703EBC-CFD9-42D6-B893-BD68ACABA0A3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7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8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01F196-D1D1-4FBB-847B-2BD89757F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1472855" y="285752"/>
            <a:ext cx="594663" cy="59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2085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接點 3"/>
          <p:cNvCxnSpPr/>
          <p:nvPr/>
        </p:nvCxnSpPr>
        <p:spPr>
          <a:xfrm>
            <a:off x="571502" y="1000110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8259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600" y="1071549"/>
            <a:ext cx="10972800" cy="5054617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7780393-A77D-46AF-AF99-558B72E71B61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251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F35885C-FC22-493F-91F7-E733AA5EA2C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633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D03EF0A-F8FF-47DF-8E49-E89576D75419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7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8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56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接點 6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358BE78-8297-4634-994A-F44F5A6C634C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9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10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334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接點 2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78A2941-D17F-4640-A28C-60D7CC31BAC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1767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DA1A174-252C-4B7B-84B0-A0C7FA76DFE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3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5050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CDC83DC-39E7-427A-ACB5-927E25EB9EBD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40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45E205D-F611-4F28-8C64-42CD3F737FF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9115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接點 3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75E22C3-6D95-4E79-ADCB-8250C11E6278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9657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F66DC53-9ACD-4717-B545-D6CC9C164E39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63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標題版面配置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612854C8-A503-47AB-AD27-7F5D3619AF57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矩形 6"/>
          <p:cNvSpPr/>
          <p:nvPr/>
        </p:nvSpPr>
        <p:spPr>
          <a:xfrm>
            <a:off x="0" y="0"/>
            <a:ext cx="12192000" cy="21431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200" b="1" i="0" kern="0" baseline="0" dirty="0">
                <a:ln w="12700">
                  <a:noFill/>
                  <a:prstDash val="solid"/>
                </a:ln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Platform Based Design Group</a:t>
            </a:r>
            <a:endParaRPr kumimoji="0" lang="zh-TW" altLang="en-US" sz="1200" b="1" i="0" kern="0" baseline="0">
              <a:ln w="12700">
                <a:noFill/>
                <a:prstDash val="solid"/>
              </a:ln>
              <a:solidFill>
                <a:schemeClr val="accent1">
                  <a:lumMod val="75000"/>
                </a:schemeClr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/>
          <p:cNvSpPr/>
          <p:nvPr/>
        </p:nvSpPr>
        <p:spPr>
          <a:xfrm rot="16200000">
            <a:off x="5988844" y="654844"/>
            <a:ext cx="214312" cy="12192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200" b="0" kern="0" spc="120" baseline="0" dirty="0">
                <a:latin typeface="Arial" pitchFamily="34" charset="0"/>
                <a:cs typeface="Arial" pitchFamily="34" charset="0"/>
              </a:rPr>
              <a:t>NYCU.EE, Hsinchu, Taiwan</a:t>
            </a:r>
            <a:endParaRPr kumimoji="0" lang="zh-TW" altLang="en-US" sz="1200" b="0" kern="0" spc="120" baseline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" y="1511165"/>
            <a:ext cx="285751" cy="534683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tIns="3024000" bIns="4680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200" dirty="0">
                <a:latin typeface="Arial" pitchFamily="34" charset="0"/>
                <a:cs typeface="Arial" pitchFamily="34" charset="0"/>
              </a:rPr>
              <a:t>VLSI Signal Processing Lab.</a:t>
            </a:r>
            <a:endParaRPr kumimoji="0" lang="zh-TW" altLang="en-US" sz="120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435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accent6">
              <a:lumMod val="75000"/>
            </a:schemeClr>
          </a:solidFill>
          <a:latin typeface="+mn-lt"/>
          <a:ea typeface="+mn-ea"/>
          <a:cs typeface="+mn-cs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99" Type="http://schemas.openxmlformats.org/officeDocument/2006/relationships/notesSlide" Target="../notesSlides/notesSlide10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0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1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9" Type="http://schemas.openxmlformats.org/officeDocument/2006/relationships/notesSlide" Target="../notesSlides/notesSlide1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0BD580-A633-67B6-AA03-7B9B8B98C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052918"/>
            <a:ext cx="10363200" cy="1547535"/>
          </a:xfrm>
        </p:spPr>
        <p:txBody>
          <a:bodyPr/>
          <a:lstStyle/>
          <a:p>
            <a:pPr algn="ctr"/>
            <a:r>
              <a:rPr lang="en-US" altLang="zh-TW" sz="3200" dirty="0">
                <a:solidFill>
                  <a:prstClr val="black"/>
                </a:solidFill>
                <a:latin typeface="Times New Roman" pitchFamily="18" charset="0"/>
                <a:ea typeface="Arial Unicode MS" pitchFamily="34" charset="-120"/>
                <a:cs typeface="Times New Roman" pitchFamily="18" charset="0"/>
              </a:rPr>
              <a:t>機器人世界模型的推論晶片，</a:t>
            </a:r>
            <a:br>
              <a:rPr lang="zh-TW" altLang="en-US" sz="3200"/>
            </a:br>
            <a:r>
              <a:rPr lang="zh-TW" altLang="en-US" sz="3200" dirty="0">
                <a:solidFill>
                  <a:prstClr val="black"/>
                </a:solidFill>
                <a:latin typeface="Times New Roman" pitchFamily="18" charset="0"/>
                <a:ea typeface="Arial Unicode MS" pitchFamily="34" charset="-120"/>
                <a:cs typeface="Times New Roman" pitchFamily="18" charset="0"/>
              </a:rPr>
              <a:t>該和 LLM 加速器有什麼不同</a:t>
            </a:r>
            <a:endParaRPr kumimoji="0" lang="en-US" altLang="zh-TW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itchFamily="18" charset="0"/>
              <a:ea typeface="Arial Unicode MS" pitchFamily="34" charset="-120"/>
              <a:cs typeface="Times New Roman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329723E-B3BF-69BE-5DC5-086DF1C50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528145"/>
          </a:xfrm>
        </p:spPr>
        <p:txBody>
          <a:bodyPr/>
          <a:lstStyle/>
          <a:p>
            <a:pPr algn="ctr"/>
            <a:r>
              <a:rPr lang="en-US" altLang="zh-TW" dirty="0"/>
              <a:t>2026.10.13  World Model 推論加速器研究</a:t>
            </a:r>
            <a:endParaRPr lang="zh-TW" altLang="en-US" sz="3200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4E07852-6A38-BF9B-C704-11D843F17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8480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LLM 加速器的設計假設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生成長度不定，狀態隨對話不斷長大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每次只算一個向量（矩陣乘向量）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機器人世界模型的實際負載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形狀固定的靜態計算，步數只有幾步到十步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每次算中等大小的矩陣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該投資的方向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小型陣列、依重用率分兩路的權重存放、靜態排程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結論：差異化不是更大，而是更貼合計算形狀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研究範圍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十幾個開源機器人模型：動作輸出、影片預測、潛在空間規劃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架構讀自原始碼、計算量直接計數、週期級模擬評估陣列利用率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三個 AI 協作者分工撰寫並互相審查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核心觀念：瓶頸屬於「運算階段 × 硬體」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同一模型內，不同階段的運算密度相差很大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同一階段搬到低頻寬的邊緣晶片，可能從算力受限變成頻寬受限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研究方法與核心觀念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712D3-450B-8A9B-004C-BA15EF779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標題 15">
            <a:extLst>
              <a:ext uri="{FF2B5EF4-FFF2-40B4-BE49-F238E27FC236}">
                <a16:creationId xmlns:a16="http://schemas.microsoft.com/office/drawing/2014/main" id="{8F81C2D5-EE54-2187-DAF1-8E01970B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7296"/>
            <a:ext cx="10972800" cy="582594"/>
          </a:xfrm>
        </p:spPr>
        <p:txBody>
          <a:bodyPr/>
          <a:lstStyle/>
          <a:p>
            <a:r>
              <a:rPr lang="en-US" altLang="zh-TW" sz="3600" dirty="0"/>
              <a:t>三類模型，三種不同的壓力</a:t>
            </a:r>
            <a:endParaRPr lang="zh-TW" altLang="en-US" sz="3600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B00882-1F9D-F272-09CD-90F6F8458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內容版面配置區 5">
            <a:extLst>
              <a:ext uri="{FF2B5EF4-FFF2-40B4-BE49-F238E27FC236}">
                <a16:creationId xmlns:a16="http://schemas.microsoft.com/office/drawing/2014/main" id="{C963857C-37A3-2A6F-5230-B3DAA1E1C89C}"/>
              </a:ext>
            </a:extLst>
          </p:cNvPr>
          <p:cNvSpPr txBox="1">
            <a:spLocks/>
          </p:cNvSpPr>
          <p:nvPr/>
        </p:nvSpPr>
        <p:spPr bwMode="auto">
          <a:xfrm>
            <a:off x="609599" y="1175657"/>
            <a:ext cx="10972800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/>
              <a:t>同樣叫世界模型，對硬體的壓力完全不同</a:t>
            </a:r>
          </a:p>
        </p:txBody>
      </p:sp>
      <p:graphicFrame>
        <p:nvGraphicFramePr>
          <p:cNvPr id="30" name="表格 30"/>
          <p:cNvGraphicFramePr>
            <a:graphicFrameLocks noGrp="1"/>
          </p:cNvGraphicFramePr>
          <p:nvPr/>
        </p:nvGraphicFramePr>
        <p:xfrm>
          <a:off x="609600" y="1874520"/>
          <a:ext cx="10972800" cy="1828800"/>
        </p:xfrm>
        <a:graphic>
          <a:graphicData uri="http://schemas.openxmlformats.org/drawingml/2006/table">
            <a:tbl>
              <a:tblPr firstRow="1" bandRow="1"/>
              <a:tblGrid>
                <a:gridCol w="1600200"/>
                <a:gridCol w="3124200"/>
                <a:gridCol w="3124200"/>
                <a:gridCol w="3124200"/>
              </a:tblGrid>
              <a:tr h="457200"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/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>直接輸出動作</a:t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>預測未來影片</a:t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>潛在空間規劃</a:t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b="1" sz="1800"/>
                        <a:t>怎麼算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大模型看畫面一次，小網路反覆修正一段動作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每步處理整段影片的大量 token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壓縮成狀態，平行想像數百條候選未來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b="1" sz="1800"/>
                        <a:t>瓶頸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每步重讀小網路權重，但每次只算幾十列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算力與中間資料量，加上三維卷積編解碼器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取決於狀態怎麼表示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b="1" sz="1800"/>
                        <a:t>狀態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小且大小固定，重新規劃就丟掉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部分模型需跨段保存歷史記憶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唯一能用平行候選填滿硬體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5503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狀態用一個緊湊向量，還是一大組 token？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同樣叫潛在世界模型，硬體需求可相差好幾個數量級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比候選數、預測步數都重要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候選平行度幾乎免費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動作模型一次多產生一些候選，時間幾乎不增加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多出的候選搭在原本就要做的權重讀取上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晶片規格的第一個參數：狀態表示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712D3-450B-8A9B-004C-BA15EF779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標題 15">
            <a:extLst>
              <a:ext uri="{FF2B5EF4-FFF2-40B4-BE49-F238E27FC236}">
                <a16:creationId xmlns:a16="http://schemas.microsoft.com/office/drawing/2014/main" id="{8F81C2D5-EE54-2187-DAF1-8E01970B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7296"/>
            <a:ext cx="10972800" cy="582594"/>
          </a:xfrm>
        </p:spPr>
        <p:txBody>
          <a:bodyPr/>
          <a:lstStyle/>
          <a:p>
            <a:r>
              <a:rPr lang="en-US" altLang="zh-TW" sz="3600" dirty="0"/>
              <a:t>語言模型的老招，哪些能用、哪些不能</a:t>
            </a:r>
            <a:endParaRPr lang="zh-TW" altLang="en-US" sz="3600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B00882-1F9D-F272-09CD-90F6F8458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內容版面配置區 5">
            <a:extLst>
              <a:ext uri="{FF2B5EF4-FFF2-40B4-BE49-F238E27FC236}">
                <a16:creationId xmlns:a16="http://schemas.microsoft.com/office/drawing/2014/main" id="{C963857C-37A3-2A6F-5230-B3DAA1E1C89C}"/>
              </a:ext>
            </a:extLst>
          </p:cNvPr>
          <p:cNvSpPr txBox="1">
            <a:spLocks/>
          </p:cNvSpPr>
          <p:nvPr/>
        </p:nvSpPr>
        <p:spPr bwMode="auto">
          <a:xfrm>
            <a:off x="609599" y="1175657"/>
            <a:ext cx="10972800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/>
              <a:t>只有低精度是通用解；招牌技巧的前提，機器人都沒有</a:t>
            </a:r>
          </a:p>
        </p:txBody>
      </p:sp>
      <p:graphicFrame>
        <p:nvGraphicFramePr>
          <p:cNvPr id="30" name="表格 30"/>
          <p:cNvGraphicFramePr>
            <a:graphicFrameLocks noGrp="1"/>
          </p:cNvGraphicFramePr>
          <p:nvPr/>
        </p:nvGraphicFramePr>
        <p:xfrm>
          <a:off x="609600" y="1874520"/>
          <a:ext cx="10972800" cy="3200400"/>
        </p:xfrm>
        <a:graphic>
          <a:graphicData uri="http://schemas.openxmlformats.org/drawingml/2006/table">
            <a:tbl>
              <a:tblPr firstRow="1" bandRow="1"/>
              <a:tblGrid>
                <a:gridCol w="3291840"/>
                <a:gridCol w="1737360"/>
                <a:gridCol w="5943600"/>
              </a:tblGrid>
              <a:tr h="457200"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>技巧</a:t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>對世界模型</a:t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chemeClr val="bg1"/>
                          </a:solidFill>
                        </a:rPr>
                        <a:t>原因</a:t>
                      </a:r>
                    </a:p>
                  </a:txBody>
                  <a:tcPr marL="91440" marR="91440" marT="64008" marB="64008" anchor="ctr"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低精度權重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rgbClr val="1F6F4A"/>
                          </a:solidFill>
                        </a:rPr>
                        <a:t>有效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所有類別都受頻寬或算力限制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減少去噪步數、步間重用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rgbClr val="1F6F4A"/>
                          </a:solidFill>
                        </a:rPr>
                        <a:t>有效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擴散模型特有的槓桿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分頁式記憶體管理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rgbClr val="B03A2E"/>
                          </a:solidFill>
                        </a:rPr>
                        <a:t>無效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狀態大小固定，不會長大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跨使用者動態批次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rgbClr val="B03A2E"/>
                          </a:solidFill>
                        </a:rPr>
                        <a:t>無效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一台機器人一次只有一個請求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投機解碼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rgbClr val="B03A2E"/>
                          </a:solidFill>
                        </a:rPr>
                        <a:t>無效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只有少數幾步的連續積分</a:t>
                      </a:r>
                    </a:p>
                  </a:txBody>
                  <a:tcPr marL="91440" marR="91440" marT="64008" marB="6400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專算向量的引擎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b="1" sz="1800">
                          <a:solidFill>
                            <a:srgbClr val="B03A2E"/>
                          </a:solidFill>
                        </a:rPr>
                        <a:t>方向錯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 sz="1800"/>
                        <a:t>主要運算是中等大小的矩陣</a:t>
                      </a:r>
                    </a:p>
                  </a:txBody>
                  <a:tcPr marL="91440" marR="91440" marT="64008" marB="64008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55031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單一大陣列（LLM 式）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中等矩陣只填滿一小角，大部分運算單元閒置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多個小陣列＋每個矩陣自選資料流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中等矩陣也能填滿，跑大矩陣時不會變差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只做其中一項，瓶頸只會換個地方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權重放晶片內、陣列仍太大 → 卡在利用率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陣列變小、權重仍從外部讀 → 卡在頻寬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小陣列與權重放晶片內，必須一起做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712D3-450B-8A9B-004C-BA15EF779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標題 15">
            <a:extLst>
              <a:ext uri="{FF2B5EF4-FFF2-40B4-BE49-F238E27FC236}">
                <a16:creationId xmlns:a16="http://schemas.microsoft.com/office/drawing/2014/main" id="{8F81C2D5-EE54-2187-DAF1-8E01970B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7296"/>
            <a:ext cx="10972800" cy="582594"/>
          </a:xfrm>
        </p:spPr>
        <p:txBody>
          <a:bodyPr/>
          <a:lstStyle/>
          <a:p>
            <a:r>
              <a:rPr lang="en-US" altLang="zh-TW" sz="3600" dirty="0"/>
              <a:t>深入案例：Flex-π</a:t>
            </a:r>
            <a:endParaRPr lang="zh-TW" altLang="en-US" sz="3600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B00882-1F9D-F272-09CD-90F6F8458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內容版面配置區 5">
            <a:extLst>
              <a:ext uri="{FF2B5EF4-FFF2-40B4-BE49-F238E27FC236}">
                <a16:creationId xmlns:a16="http://schemas.microsoft.com/office/drawing/2014/main" id="{C963857C-37A3-2A6F-5230-B3DAA1E1C89C}"/>
              </a:ext>
            </a:extLst>
          </p:cNvPr>
          <p:cNvSpPr txBox="1">
            <a:spLocks/>
          </p:cNvSpPr>
          <p:nvPr/>
        </p:nvSpPr>
        <p:spPr bwMode="auto">
          <a:xfrm>
            <a:off x="609599" y="1175657"/>
            <a:ext cx="10972800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/>
              <a:t>每次推論＝大主幹看一次＋動作網路修正四次</a:t>
            </a:r>
          </a:p>
        </p:txBody>
      </p:sp>
      <p:sp>
        <p:nvSpPr>
          <p:cNvPr id="40" name="流程 1"/>
          <p:cNvSpPr/>
          <p:nvPr/>
        </p:nvSpPr>
        <p:spPr>
          <a:xfrm>
            <a:off x="609600" y="2011680"/>
            <a:ext cx="2103120" cy="8686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40" rIns="91440" anchor="ctr">
            <a:normAutofit/>
          </a:bodyPr>
          <a:lstStyle/>
          <a:p>
            <a:pPr algn="ctr"/>
            <a:r>
              <a:rPr lang="zh-TW" altLang="en-US" dirty="0" b="1" sz="1800">
                <a:solidFill>
                  <a:schemeClr val="tx1"/>
                </a:solidFill>
              </a:rPr>
              <a:t>編碼畫面</a:t>
            </a:r>
          </a:p>
        </p:txBody>
      </p:sp>
      <p:sp>
        <p:nvSpPr>
          <p:cNvPr id="50" name="箭頭 1"/>
          <p:cNvSpPr/>
          <p:nvPr/>
        </p:nvSpPr>
        <p:spPr>
          <a:xfrm>
            <a:off x="2804160" y="2308860"/>
            <a:ext cx="365760" cy="27432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41" name="流程 2"/>
          <p:cNvSpPr/>
          <p:nvPr/>
        </p:nvSpPr>
        <p:spPr>
          <a:xfrm>
            <a:off x="3261360" y="2011680"/>
            <a:ext cx="2103120" cy="8686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40" rIns="91440" anchor="ctr">
            <a:normAutofit/>
          </a:bodyPr>
          <a:lstStyle/>
          <a:p>
            <a:pPr algn="ctr"/>
            <a:r>
              <a:rPr lang="zh-TW" altLang="en-US" dirty="0" b="1" sz="1800">
                <a:solidFill>
                  <a:schemeClr val="tx1"/>
                </a:solidFill>
              </a:rPr>
              <a:t>大主幹看一次</a:t>
            </a:r>
          </a:p>
          <a:p>
            <a:pPr algn="ctr"/>
            <a:r>
              <a:rPr lang="zh-TW" altLang="en-US" dirty="0" sz="1800">
                <a:solidFill>
                  <a:schemeClr val="tx1"/>
                </a:solidFill>
              </a:rPr>
              <a:t>存下注意力資料</a:t>
            </a:r>
          </a:p>
        </p:txBody>
      </p:sp>
      <p:sp>
        <p:nvSpPr>
          <p:cNvPr id="51" name="箭頭 2"/>
          <p:cNvSpPr/>
          <p:nvPr/>
        </p:nvSpPr>
        <p:spPr>
          <a:xfrm>
            <a:off x="5455920" y="2308860"/>
            <a:ext cx="365760" cy="27432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42" name="流程 3"/>
          <p:cNvSpPr/>
          <p:nvPr/>
        </p:nvSpPr>
        <p:spPr>
          <a:xfrm>
            <a:off x="5913120" y="2011680"/>
            <a:ext cx="2103120" cy="86868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rIns="91440" anchor="ctr">
            <a:normAutofit/>
          </a:bodyPr>
          <a:lstStyle/>
          <a:p>
            <a:pPr algn="ctr"/>
            <a:r>
              <a:rPr lang="zh-TW" altLang="en-US" dirty="0" b="1" sz="1800">
                <a:solidFill>
                  <a:schemeClr val="bg1"/>
                </a:solidFill>
              </a:rPr>
              <a:t>動作修正四次</a:t>
            </a:r>
          </a:p>
          <a:p>
            <a:pPr algn="ctr"/>
            <a:r>
              <a:rPr lang="zh-TW" altLang="en-US" dirty="0" sz="1800">
                <a:solidFill>
                  <a:schemeClr val="bg1"/>
                </a:solidFill>
              </a:rPr>
              <a:t>每次讀存下的資料</a:t>
            </a:r>
          </a:p>
        </p:txBody>
      </p:sp>
      <p:sp>
        <p:nvSpPr>
          <p:cNvPr id="52" name="箭頭 3"/>
          <p:cNvSpPr/>
          <p:nvPr/>
        </p:nvSpPr>
        <p:spPr>
          <a:xfrm>
            <a:off x="8107680" y="2308860"/>
            <a:ext cx="365760" cy="27432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43" name="流程 4"/>
          <p:cNvSpPr/>
          <p:nvPr/>
        </p:nvSpPr>
        <p:spPr>
          <a:xfrm>
            <a:off x="8564880" y="2011680"/>
            <a:ext cx="2103120" cy="8686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40" rIns="91440" anchor="ctr">
            <a:normAutofit/>
          </a:bodyPr>
          <a:lstStyle/>
          <a:p>
            <a:pPr algn="ctr"/>
            <a:r>
              <a:rPr lang="zh-TW" altLang="en-US" dirty="0" b="1" sz="1800">
                <a:solidFill>
                  <a:schemeClr val="tx1"/>
                </a:solidFill>
              </a:rPr>
              <a:t>輸出一段動作</a:t>
            </a:r>
          </a:p>
        </p:txBody>
      </p:sp>
      <p:sp>
        <p:nvSpPr>
          <p:cNvPr id="60" name="重點 60"/>
          <p:cNvSpPr txBox="1"/>
          <p:nvPr/>
        </p:nvSpPr>
        <p:spPr>
          <a:xfrm>
            <a:off x="609600" y="3291840"/>
            <a:ext cx="10972800" cy="2286000"/>
          </a:xfrm>
          <a:prstGeom prst="rect">
            <a:avLst/>
          </a:prstGeom>
          <a:noFill/>
        </p:spPr>
        <p:txBody>
          <a:bodyPr wrap="square" lIns="91440" tIns="45720" rIns="91440" bIns="45720">
            <a:normAutofit/>
          </a:bodyPr>
          <a:lstStyle/>
          <a:p>
            <a:pPr marL="342900" indent="-342900">
              <a:spcBef>
                <a:spcPts val="900"/>
              </a:spcBef>
              <a:buFont typeface="Arial"/>
              <a:buChar char="•"/>
            </a:pPr>
            <a:r>
              <a:rPr lang="zh-TW" altLang="en-US" dirty="0" b="1" sz="2200"/>
              <a:t>成本在前段：</a:t>
            </a:r>
            <a:r>
              <a:rPr lang="zh-TW" altLang="en-US" dirty="0" sz="2200"/>
              <a:t>每次推論都要重做，無法像語言模型那樣攤提</a:t>
            </a:r>
          </a:p>
          <a:p>
            <a:pPr marL="342900" indent="-342900">
              <a:spcBef>
                <a:spcPts val="900"/>
              </a:spcBef>
              <a:buFont typeface="Arial"/>
              <a:buChar char="•"/>
            </a:pPr>
            <a:r>
              <a:rPr lang="zh-TW" altLang="en-US" dirty="0" b="1" sz="2200"/>
              <a:t>重用率兩極：</a:t>
            </a:r>
            <a:r>
              <a:rPr lang="zh-TW" altLang="en-US" dirty="0" sz="2200"/>
              <a:t>大主幹讀一次，小網路讀好幾次</a:t>
            </a:r>
          </a:p>
          <a:p>
            <a:pPr marL="342900" indent="-342900">
              <a:spcBef>
                <a:spcPts val="900"/>
              </a:spcBef>
              <a:buFont typeface="Arial"/>
              <a:buChar char="•"/>
            </a:pPr>
            <a:r>
              <a:rPr lang="zh-TW" altLang="en-US" dirty="0" b="1" sz="2200"/>
              <a:t>不是快取：</a:t>
            </a:r>
            <a:r>
              <a:rPr lang="zh-TW" altLang="en-US" dirty="0" sz="2200"/>
              <a:t>存下的資料跨推論不能重用，只在修正步之間有用</a:t>
            </a:r>
          </a:p>
        </p:txBody>
      </p:sp>
    </p:spTree>
    <p:extLst>
      <p:ext uri="{BB962C8B-B14F-4D97-AF65-F5344CB8AC3E}">
        <p14:creationId xmlns:p14="http://schemas.microsoft.com/office/powerpoint/2010/main" val="1325503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多個小陣列：</a:t>
            </a:r>
            <a:r>
              <a:rPr lang="zh-TW" altLang="en-US" dirty="0"/>
              <a:t>取代單一大陣列，不做專算向量的引擎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權重分兩路：</a:t>
            </a:r>
            <a:r>
              <a:rPr lang="zh-TW" altLang="en-US" dirty="0"/>
              <a:t>小網路放晶片內，大主幹低精度串流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外部記憶體以頻寬為優先，而不是容量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狀態管理簡化：</a:t>
            </a:r>
            <a:r>
              <a:rPr lang="zh-TW" altLang="en-US" dirty="0"/>
              <a:t>大小在編譯時已知，不需動態管理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固定排程編譯器：</a:t>
            </a:r>
            <a:r>
              <a:rPr lang="zh-TW" altLang="en-US" dirty="0"/>
              <a:t>刪除冗餘計算，保證最壞延遲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卷積前端：</a:t>
            </a:r>
            <a:r>
              <a:rPr lang="zh-TW" altLang="en-US" dirty="0"/>
              <a:t>支援三維卷積；注意力只需小單元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建議：五個與 LLM 加速器不同的設計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要不要支援需要大量歷史記憶的影片模型？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支援，就要預留大量記憶體頻寬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小網路放晶片內，還是多產生候選來分攤讀取？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前者要大 SRAM，後者不增加面積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大主幹的精度要壓到多低？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精度越低，越能擺脫頻寬限制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規格上要先決定的三個取捨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目前的證據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原始碼計數、理論估算與模擬；尚無晶片實測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互審後撤回一項加速宣稱，並修正陣列排程假設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非矩陣運算可能成為新瓶頸，尚未量化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下一步：GPU 實測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多產生候選是否真的幾乎不增加時間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刪除冗餘計算的實際效益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若前者不成立，撤回「動作網路受頻寬限制」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限制與下一步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zh-TW" altLang="en-US" dirty="0" b="1"/>
              <a:t>差異化的方向不是更大，而是更貼合固定、短而中等的計算形狀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想請教老師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多個小陣列的互連與控制成本，會吃掉多少利用率好處？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小網路權重放進晶片需要大 SRAM，值得嗎？</a:t>
            </a:r>
          </a:p>
          <a:p>
            <a:pPr lvl="1">
              <a:spcAft>
                <a:spcPts val="0"/>
              </a:spcAft>
            </a:pPr>
            <a:r>
              <a:rPr lang="zh-TW" altLang="en-US" dirty="0"/>
              <a:t>若往硬體原型推進，應先驗證哪一個單元？</a:t>
            </a:r>
          </a:p>
          <a:p>
            <a:pPr>
              <a:spcAft>
                <a:spcPts val="0"/>
              </a:spcAft>
            </a:pPr>
            <a:r>
              <a:rPr lang="zh-TW" altLang="en-US" dirty="0" b="1"/>
              <a:t>謝謝老師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結語與請教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theme/theme1.xml><?xml version="1.0" encoding="utf-8"?>
<a:theme xmlns:a="http://schemas.openxmlformats.org/drawingml/2006/main" name="VSP Lab slide 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o Sans">
      <a:majorFont>
        <a:latin typeface="Noto Sans CJK TC Bold"/>
        <a:ea typeface="Noto Sans CJK TC Bold"/>
        <a:cs typeface=""/>
      </a:majorFont>
      <a:minorFont>
        <a:latin typeface="Noto Sans CJK TC Regular"/>
        <a:ea typeface="Noto Sans CJK TC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 cap="sq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SP Lab slide 1" id="{51D53EE2-805E-4DA6-AEF6-C1DD0F0CA14A}" vid="{EB26B7B2-920C-4DDE-A368-29A4536648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279F053BA02E4F94D67DE04A4ECA34" ma:contentTypeVersion="9" ma:contentTypeDescription="Create a new document." ma:contentTypeScope="" ma:versionID="73187cd9e376a44e24289fef512b6343">
  <xsd:schema xmlns:xsd="http://www.w3.org/2001/XMLSchema" xmlns:xs="http://www.w3.org/2001/XMLSchema" xmlns:p="http://schemas.microsoft.com/office/2006/metadata/properties" xmlns:ns3="5fc3d4e6-f452-449b-b608-9f91deebd10c" targetNamespace="http://schemas.microsoft.com/office/2006/metadata/properties" ma:root="true" ma:fieldsID="1df3acd97b856b47a5b6af2a56b36184" ns3:_="">
    <xsd:import namespace="5fc3d4e6-f452-449b-b608-9f91deebd10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c3d4e6-f452-449b-b608-9f91deebd1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Length (seconds)" ma:internalName="MediaLengthInSeconds" ma:readOnly="true">
      <xsd:simpleType>
        <xsd:restriction base="dms:Unknown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FC4E2A-9AAC-4D7F-95F3-46E76EFBA0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c3d4e6-f452-449b-b608-9f91deebd10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CA3220-4C56-4D8B-9059-8ECD92FE7543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terms/"/>
    <ds:schemaRef ds:uri="5fc3d4e6-f452-449b-b608-9f91deebd10c"/>
    <ds:schemaRef ds:uri="http://schemas.microsoft.com/office/infopath/2007/PartnerControls"/>
    <ds:schemaRef ds:uri="http://www.w3.org/XML/1998/namespace"/>
    <ds:schemaRef ds:uri="http://purl.org/dc/dcmitype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93E4E725-CB79-46AE-9E85-C5288E53594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vsplab</Template>
  <TotalTime>20111</TotalTime>
  <Words>474</Words>
  <Application>Microsoft Office PowerPoint</Application>
  <PresentationFormat>寬螢幕</PresentationFormat>
  <Paragraphs>96</Paragraphs>
  <Slides>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Noto Sans CJK TC Bold</vt:lpstr>
      <vt:lpstr>Noto Sans CJK TC Regular</vt:lpstr>
      <vt:lpstr>Arial</vt:lpstr>
      <vt:lpstr>Calibri</vt:lpstr>
      <vt:lpstr>Times New Roman</vt:lpstr>
      <vt:lpstr>VSP Lab slide 1</vt:lpstr>
      <vt:lpstr>簡報標題</vt:lpstr>
      <vt:lpstr>標題</vt:lpstr>
      <vt:lpstr>標題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簡報模板</dc:title>
  <dc:creator>user</dc:creator>
  <cp:lastModifiedBy>陳昇達</cp:lastModifiedBy>
  <cp:revision>372</cp:revision>
  <dcterms:created xsi:type="dcterms:W3CDTF">2022-09-07T11:53:23Z</dcterms:created>
  <dcterms:modified xsi:type="dcterms:W3CDTF">2026-05-05T09:25:04Z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0x01010061279F053BA02E4F94D67DE04A4ECA34</vt:lpwstr>
  </property>
</Properties>
</file>