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8"/>
  </p:notesMasterIdLst>
  <p:sldIdLst>
    <p:sldId id="256" r:id="rId5"/>
    <p:sldId id="459" r:id="rId24"/>
    <p:sldId id="460" r:id="rId25"/>
    <p:sldId id="461" r:id="rId26"/>
    <p:sldId id="462" r:id="rId27"/>
    <p:sldId id="463" r:id="rId28"/>
    <p:sldId id="464" r:id="rId29"/>
    <p:sldId id="465" r:id="rId30"/>
    <p:sldId id="466" r:id="rId31"/>
    <p:sldId id="467" r:id="rId32"/>
    <p:sldId id="468" r:id="rId33"/>
    <p:sldId id="469" r:id="rId34"/>
    <p:sldId id="470" r:id="rId35"/>
    <p:sldId id="471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子嘉 曾" initials="子嘉" lastIdx="2" clrIdx="0">
    <p:extLst>
      <p:ext uri="{19B8F6BF-5375-455C-9EA6-DF929625EA0E}">
        <p15:presenceInfo xmlns:p15="http://schemas.microsoft.com/office/powerpoint/2012/main" userId="子嘉 曾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D8F"/>
    <a:srgbClr val="0033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01" autoAdjust="0"/>
    <p:restoredTop sz="78031" autoAdjust="0"/>
  </p:normalViewPr>
  <p:slideViewPr>
    <p:cSldViewPr snapToGrid="0">
      <p:cViewPr varScale="1">
        <p:scale>
          <a:sx n="110" d="100"/>
          <a:sy n="110" d="100"/>
        </p:scale>
        <p:origin x="558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2" Type="http://schemas.openxmlformats.org/officeDocument/2006/relationships/customXml" Target="../customXml/item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5" Type="http://schemas.openxmlformats.org/officeDocument/2006/relationships/slide" Target="slides/slide1.xml"/><Relationship Id="rId23" Type="http://schemas.openxmlformats.org/officeDocument/2006/relationships/tableStyles" Target="tableStyles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22" Type="http://schemas.openxmlformats.org/officeDocument/2006/relationships/theme" Target="theme/theme1.xml"/>  <Relationship Id="rId24" Type="http://schemas.openxmlformats.org/officeDocument/2006/relationships/slide" Target="slides/slide14.xml"/>
  <Relationship Id="rId25" Type="http://schemas.openxmlformats.org/officeDocument/2006/relationships/slide" Target="slides/slide15.xml"/>
  <Relationship Id="rId26" Type="http://schemas.openxmlformats.org/officeDocument/2006/relationships/slide" Target="slides/slide16.xml"/>
  <Relationship Id="rId27" Type="http://schemas.openxmlformats.org/officeDocument/2006/relationships/slide" Target="slides/slide17.xml"/>
  <Relationship Id="rId28" Type="http://schemas.openxmlformats.org/officeDocument/2006/relationships/slide" Target="slides/slide18.xml"/>
  <Relationship Id="rId29" Type="http://schemas.openxmlformats.org/officeDocument/2006/relationships/slide" Target="slides/slide19.xml"/>
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F9BC36-B244-4E7A-981C-047D427D56BB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73369-BF79-441B-987B-EB4FF335C50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5741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0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老師好，今天報告世界模型與 VLA 推論加速器的研究：機器人用的推論晶片，應該在哪裡和語言模型加速器做出區別。</a:t>
            </a:r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老師好。今天報告的問題是：為機器人用的世界模型設計推論晶片，應該和現在的大型語言模型加速器有什麼不同。現有加速器多半是為語言模型服務設計的，假設很長的逐字生成和不斷長大的 KV cache；但機器人模型的計算形狀不一樣：計算圖固定、只有幾步到十步、每步是中等大小的矩陣。所以我們想釐清：哪些語言模型的加速技巧能搬過來，晶片又該在哪裡做出區別。</a:t>
            </a:r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我們分析了十二個開源模型，分成五類，以 Llama 3.1 作對照。架構參數都直接讀自原始碼，計算量直接計數；再做 roofline 分析，並用 SCALE-Sim 校準的週期級模擬評估陣列利用率。研究由三個 AI 協作者分工撰寫並互相審查。</a:t>
            </a:r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貫穿整份研究的觀念是：瓶頸不屬於某一類模型，而屬於哪個運算階段、跑在哪種硬體上。圖上每一點是一個模型的一個階段。同一個模型裡，不同階段的運算密度可以差十倍以上；同一個階段搬到頻寬較低的邊緣晶片，也可能從算力受限變成頻寬受限。所以設計晶片時要先把模型拆成階段。</a:t>
            </a:r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第一類是直接輸出動作的 VLA。前段的視覺語言模型只跑一次，後段的小型動作專家要反覆修正幾步到十步。以 π0 為例，動作專家只佔百分之九的計算量，卻佔 Thor 上一半以上的延遲，因為每一步都要重讀它的權重，但每次只算約五十列。圖中可以看到，權重從外部串流時延遲隨步數線性上升；權重放在片上時幾乎是平的。這和語言模型逐字生成很像，差別在於被重讀的網路小到有機會放進晶片，而且每次算的是矩陣而不是向量。</a:t>
            </a:r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需要保存的中間狀態也和語言模型完全不同。VLA 只有零點七到十幾 MB，大小由相機數和 token 數決定，每次重新規劃就丟掉；語言模型則隨上下文和批次一路長到十幾 GB。只有逐段生成的影片世界模型需要跨段保存 GB 級的滑動視窗。所以這類晶片不需要分頁式的 KV 管理，所有狀態大小在編譯時就已知。</a:t>
            </a:r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第三類是在潛在空間做規劃的模型。一次決策的成本約等於編碼加上搜尋輪數、候選數、預測步數和每次轉移成本的乘積。表中兩個模型都叫潛在世界模型，但一個的狀態是緊湊向量、轉移是小型 MLP，另一個是每幀 256 個 token 的 Transformer，每次轉移成本差了三到五個數量級。所以狀態表示的選擇，比候選數或步數更重要，是晶片規格的第一個參數。另外，讓動作模型一次多產生候選幾乎不增加時間，因為多出的候選搭在原本就要做的權重讀取上。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我們逐項量化了約六十項 2026 年以前的語言模型加速技巧。只有低精度權重對所有類別都有效。分頁式記憶體、動態批次、投機解碼這些招牌技巧，都建立在狀態會長大、有很多使用者可以合併的前提上，機器人兩者都沒有。影片模型真正有效的則是擴散模型才有的槓桿：減少去噪步數，以及在步與步之間重用計算。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陣列層級的模擬支持這個判斷。同樣的乘加單元數，如果用一個 128 乘 128 的權重固定陣列，VLA 動作迴圈只有一成左右的利用率；切成 16 個 32 乘 32 的小陣列、讓每個矩陣自選資料流，可以提高到六到八成，而大矩陣的工作負載在小陣列上仍有九成以上。語言模型 decode 在任何陣列上都很低，這也解釋了它們為什麼轉向向量引擎。另外，權重放片上只有搭配小陣列才真正有效。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為了驗證這些觀念，我們解剖了 Flex-π。它用 50 億參數的影片模型當主幹，加上 10 億參數的動作網路。每次推論先把當下觀測送進主幹一次，存下每層的注意力資料，這是 prefill；再對一整段動作做四步去噪。我們從原始碼算出的計算量和官方實測吻合。關鍵發現是：在邊緣硬體上，成本主體不是後段的去噪，而是每次推論都要重做的前段；語言模型可以把前段攤提掉，這裡不行。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我們也從原始碼找到幾處可以直接刪掉、結果完全不變的計算：只輸出動作時，主幹最上面七層算出來沒有人用；文字指令的 K/V 每步都重算，其實整個任務都不變。存下的錨點 K/V 不是語言模型意義上的快取，跨推論不能重用，只在同一次推論的幾步之間有用。表中是 Thor 等級晶片上的估算：語言模型式的設計只能降到 55.6 毫秒，加入小陣列、刪除冗餘、專家常駐片上後可降到約 19.6 毫秒。總計含編碼器約 4.8 毫秒，都是理想下限。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綜合以上，我們建議的晶片和語言模型加速器有五個區別：用多個小陣列取代單一大陣列；權重依重用率分兩路，反覆讀的小網路放片上、只讀一次的大主幹用低精度串流，外部記憶體以頻寬為優先；狀態靜態配置；編譯器把每種推論模式編成固定排程，保證最壞延遲，這對閉迴路控制比平均吞吐量更重要；以及三維卷積前端。下表是規格上必須先決定的三個取捨。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這些結論都來自原始碼計數、理論估算和模擬，不是晶片實測，也還沒實際執行 Flex-π 的權重。互審過程中我們撤回了一項加速宣稱，也修正了陣列模型的排程假設；也接受了提醒：矩陣運算加速之後，正規化、排序這類非矩陣運算可能變成新瓶頸。下一步是在 GPU 上實測多候選是否真的幾乎不增加時間，以及刪除冗餘計算的效益；若前者不成立，我們會撤回動作網路受頻寬限制的結論。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總結一句話：機器人世界模型的晶片，差異化方向不是更大，而是更貼合它固定、短而中等大小的計算形狀。最後想請教老師三個問題：多個小陣列帶來的互連與控制成本，會吃掉多少利用率上的好處？把小網路權重放進晶片需要相當大的 SRAM，這值得嗎，還是應該優先用多候選來分攤讀取？若要往硬體原型推進，應該先驗證哪一個單元？報告到這裡，謝謝老師。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接點 3"/>
          <p:cNvCxnSpPr/>
          <p:nvPr/>
        </p:nvCxnSpPr>
        <p:spPr>
          <a:xfrm>
            <a:off x="952502" y="3714750"/>
            <a:ext cx="11239500" cy="1588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>
            <a:normAutofit/>
          </a:bodyPr>
          <a:lstStyle>
            <a:lvl1pPr marL="0" indent="0" algn="r">
              <a:buNone/>
              <a:defRPr sz="28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6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D703EBC-CFD9-42D6-B893-BD68ACABA0A3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7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8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D01F196-D1D1-4FBB-847B-2BD89757F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1472855" y="285752"/>
            <a:ext cx="594663" cy="59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2085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接點 3"/>
          <p:cNvCxnSpPr/>
          <p:nvPr/>
        </p:nvCxnSpPr>
        <p:spPr>
          <a:xfrm>
            <a:off x="571502" y="1000110"/>
            <a:ext cx="11620500" cy="1587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8259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09600" y="1071549"/>
            <a:ext cx="10972800" cy="5054617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7780393-A77D-46AF-AF99-558B72E71B61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251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F35885C-FC22-493F-91F7-E733AA5EA2C5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6338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/>
          <p:cNvCxnSpPr/>
          <p:nvPr/>
        </p:nvCxnSpPr>
        <p:spPr>
          <a:xfrm>
            <a:off x="571502" y="1500191"/>
            <a:ext cx="11620500" cy="1587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D03EF0A-F8FF-47DF-8E49-E89576D75419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7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8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0566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接點 6"/>
          <p:cNvCxnSpPr/>
          <p:nvPr/>
        </p:nvCxnSpPr>
        <p:spPr>
          <a:xfrm>
            <a:off x="571502" y="1500191"/>
            <a:ext cx="11620500" cy="1587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8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358BE78-8297-4634-994A-F44F5A6C634C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9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10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334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線接點 2"/>
          <p:cNvCxnSpPr/>
          <p:nvPr/>
        </p:nvCxnSpPr>
        <p:spPr>
          <a:xfrm>
            <a:off x="571502" y="1500191"/>
            <a:ext cx="11620500" cy="1587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78A2941-D17F-4640-A28C-60D7CC31BAC5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1767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DA1A174-252C-4B7B-84B0-A0C7FA76DFE5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3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4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25050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CDC83DC-39E7-427A-ACB5-927E25EB9EBD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6407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45E205D-F611-4F28-8C64-42CD3F737FF5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9115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接點 3"/>
          <p:cNvCxnSpPr/>
          <p:nvPr/>
        </p:nvCxnSpPr>
        <p:spPr>
          <a:xfrm>
            <a:off x="571502" y="1500191"/>
            <a:ext cx="11620500" cy="1587"/>
          </a:xfrm>
          <a:prstGeom prst="line">
            <a:avLst/>
          </a:prstGeom>
          <a:ln w="12700" cmpd="sng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75E22C3-6D95-4E79-ADCB-8250C11E6278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96578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F66DC53-9ACD-4717-B545-D6CC9C164E39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263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標題版面配置區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文字版面配置區 2"/>
          <p:cNvSpPr>
            <a:spLocks noGrp="1"/>
          </p:cNvSpPr>
          <p:nvPr>
            <p:ph type="body" idx="1"/>
          </p:nvPr>
        </p:nvSpPr>
        <p:spPr bwMode="auto">
          <a:xfrm>
            <a:off x="609600" y="1600203"/>
            <a:ext cx="109728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fld id="{612854C8-A503-47AB-AD27-7F5D3619AF57}" type="datetime1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fld id="{E61F77C1-B770-47FB-877F-E631DD26508E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矩形 6"/>
          <p:cNvSpPr/>
          <p:nvPr/>
        </p:nvSpPr>
        <p:spPr>
          <a:xfrm>
            <a:off x="0" y="0"/>
            <a:ext cx="12192000" cy="21431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200" b="1" i="0" kern="0" baseline="0" dirty="0">
                <a:ln w="12700">
                  <a:noFill/>
                  <a:prstDash val="solid"/>
                </a:ln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Platform Based Design Group</a:t>
            </a:r>
            <a:endParaRPr kumimoji="0" lang="zh-TW" altLang="en-US" sz="1200" b="1" i="0" kern="0" baseline="0">
              <a:ln w="12700">
                <a:noFill/>
                <a:prstDash val="solid"/>
              </a:ln>
              <a:solidFill>
                <a:schemeClr val="accent1">
                  <a:lumMod val="75000"/>
                </a:schemeClr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矩形 14"/>
          <p:cNvSpPr/>
          <p:nvPr/>
        </p:nvSpPr>
        <p:spPr>
          <a:xfrm rot="16200000">
            <a:off x="5988844" y="654844"/>
            <a:ext cx="214312" cy="12192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200" b="0" kern="0" spc="120" baseline="0" dirty="0">
                <a:latin typeface="Arial" pitchFamily="34" charset="0"/>
                <a:cs typeface="Arial" pitchFamily="34" charset="0"/>
              </a:rPr>
              <a:t>NYCU.EE, Hsinchu, Taiwan</a:t>
            </a:r>
            <a:endParaRPr kumimoji="0" lang="zh-TW" altLang="en-US" sz="1200" b="0" kern="0" spc="120" baseline="0">
              <a:latin typeface="Arial" pitchFamily="34" charset="0"/>
              <a:cs typeface="Arial" pitchFamily="34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" y="1511165"/>
            <a:ext cx="285751" cy="534683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tIns="3024000" bIns="4680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200" dirty="0">
                <a:latin typeface="Arial" pitchFamily="34" charset="0"/>
                <a:cs typeface="Arial" pitchFamily="34" charset="0"/>
              </a:rPr>
              <a:t>VLSI Signal Processing Lab.</a:t>
            </a:r>
            <a:endParaRPr kumimoji="0" lang="zh-TW" altLang="en-US" sz="120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435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Arial" charset="0"/>
        </a:defRPr>
      </a:lvl9pPr>
    </p:titleStyle>
    <p:bodyStyle>
      <a:lvl1pPr marL="342891" indent="-342891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2pPr>
      <a:lvl3pPr marL="1142971" indent="-228594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600160" indent="-228594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accent6">
              <a:lumMod val="75000"/>
            </a:schemeClr>
          </a:solidFill>
          <a:latin typeface="+mn-lt"/>
          <a:ea typeface="+mn-ea"/>
          <a:cs typeface="+mn-cs"/>
        </a:defRPr>
      </a:lvl4pPr>
      <a:lvl5pPr marL="2057349" indent="-228594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200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0" Type="http://schemas.openxmlformats.org/officeDocument/2006/relationships/notesSlide" Target="../notesSlides/notesSlide20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0" Type="http://schemas.openxmlformats.org/officeDocument/2006/relationships/notesSlide" Target="../notesSlides/notesSlide202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50" Type="http://schemas.openxmlformats.org/officeDocument/2006/relationships/image" Target="../media/wm_roofline.png"/><Relationship Id="rId90" Type="http://schemas.openxmlformats.org/officeDocument/2006/relationships/notesSlide" Target="../notesSlides/notesSlide203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50" Type="http://schemas.openxmlformats.org/officeDocument/2006/relationships/image" Target="../media/wm_pi0.png"/><Relationship Id="rId90" Type="http://schemas.openxmlformats.org/officeDocument/2006/relationships/notesSlide" Target="../notesSlides/notesSlide204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50" Type="http://schemas.openxmlformats.org/officeDocument/2006/relationships/image" Target="../media/wm_state.png"/><Relationship Id="rId90" Type="http://schemas.openxmlformats.org/officeDocument/2006/relationships/notesSlide" Target="../notesSlides/notesSlide205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0" Type="http://schemas.openxmlformats.org/officeDocument/2006/relationships/notesSlide" Target="../notesSlides/notesSlide20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50" Type="http://schemas.openxmlformats.org/officeDocument/2006/relationships/image" Target="../media/wm_heat.png"/><Relationship Id="rId90" Type="http://schemas.openxmlformats.org/officeDocument/2006/relationships/notesSlide" Target="../notesSlides/notesSlide20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50" Type="http://schemas.openxmlformats.org/officeDocument/2006/relationships/image" Target="../media/wm_systolic.png"/><Relationship Id="rId90" Type="http://schemas.openxmlformats.org/officeDocument/2006/relationships/notesSlide" Target="../notesSlides/notesSlide20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50" Type="http://schemas.openxmlformats.org/officeDocument/2006/relationships/image" Target="../media/wm_flexpi.png"/><Relationship Id="rId90" Type="http://schemas.openxmlformats.org/officeDocument/2006/relationships/notesSlide" Target="../notesSlides/notesSlide209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0" Type="http://schemas.openxmlformats.org/officeDocument/2006/relationships/notesSlide" Target="../notesSlides/notesSlide210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0" Type="http://schemas.openxmlformats.org/officeDocument/2006/relationships/notesSlide" Target="../notesSlides/notesSlide21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0" Type="http://schemas.openxmlformats.org/officeDocument/2006/relationships/notesSlide" Target="../notesSlides/notesSlide212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90" Type="http://schemas.openxmlformats.org/officeDocument/2006/relationships/notesSlide" Target="../notesSlides/notesSlide2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0BD580-A633-67B6-AA03-7B9B8B98C0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052918"/>
            <a:ext cx="10363200" cy="1547535"/>
          </a:xfrm>
        </p:spPr>
        <p:txBody>
          <a:bodyPr/>
          <a:lstStyle/>
          <a:p>
            <a:pPr algn="ctr"/>
            <a:r>
              <a:rPr lang="en-US" altLang="zh-TW" sz="3200" dirty="0" err="1">
                <a:solidFill>
                  <a:prstClr val="black"/>
                </a:solidFill>
                <a:latin typeface="Times New Roman" pitchFamily="18" charset="0"/>
                <a:ea typeface="Arial Unicode MS" pitchFamily="34" charset="-120"/>
                <a:cs typeface="Times New Roman" pitchFamily="18" charset="0"/>
              </a:rPr>
              <a:t>World Model &amp; VLA Inference: </a:t>
            </a:r>
            <a:r>
              <a:rPr lang="en-US" altLang="zh-TW" sz="3200" dirty="0">
                <a:solidFill>
                  <a:prstClr val="black"/>
                </a:solidFill>
                <a:latin typeface="Times New Roman" pitchFamily="18" charset="0"/>
                <a:ea typeface="Arial Unicode MS" pitchFamily="34" charset="-120"/>
                <a:cs typeface="Times New Roman" pitchFamily="18" charset="0"/>
              </a:rPr>
              <a:t>Where a Robot ASIC</a:t>
            </a:r>
            <a:br>
              <a:rPr lang="en-US" altLang="zh-TW" sz="3200" dirty="0">
                <a:solidFill>
                  <a:prstClr val="black"/>
                </a:solidFill>
                <a:latin typeface="Times New Roman" pitchFamily="18" charset="0"/>
                <a:ea typeface="Arial Unicode MS" pitchFamily="34" charset="-120"/>
                <a:cs typeface="Times New Roman" pitchFamily="18" charset="0"/>
              </a:rPr>
            </a:br>
            <a:r>
              <a:rPr lang="en-US" altLang="zh-TW" sz="3200" dirty="0">
                <a:solidFill>
                  <a:prstClr val="black"/>
                </a:solidFill>
                <a:latin typeface="Times New Roman" pitchFamily="18" charset="0"/>
                <a:ea typeface="Arial Unicode MS" pitchFamily="34" charset="-120"/>
                <a:cs typeface="Times New Roman" pitchFamily="18" charset="0"/>
              </a:rPr>
              <a:t>Must Differ from LLM Accelerators</a:t>
            </a:r>
            <a:endParaRPr kumimoji="0" lang="en-US" altLang="zh-TW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itchFamily="18" charset="0"/>
              <a:ea typeface="Arial Unicode MS" pitchFamily="34" charset="-120"/>
              <a:cs typeface="Times New Roman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329723E-B3BF-69BE-5DC5-086DF1C504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528145"/>
          </a:xfrm>
        </p:spPr>
        <p:txBody>
          <a:bodyPr/>
          <a:lstStyle/>
          <a:p>
            <a:pPr algn="ctr"/>
            <a:r>
              <a:rPr lang="en-US" altLang="zh-TW" dirty="0"/>
              <a:t>2026.10.13</a:t>
            </a:r>
            <a:r>
              <a:rPr lang="zh-TW" altLang="en-US" dirty="0"/>
              <a:t/>
            </a:r>
            <a:endParaRPr lang="zh-TW" altLang="en-US" sz="3200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4E07852-6A38-BF9B-C704-11D843F17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8480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49505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Background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Robot foundation models (VLA, video world models, world-action models) are moving onto edge SoCs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Existing AI accelerators are tuned for LLM serving: long autoregressive decode and a growing KV cache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Problem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Robot inference has a different shape: fixed graphs, 4–10 denoising steps, medium-size GEMMs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Unclear which LLM-accelerator techniques transfer, and which features a robot ASIC actually needs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Goal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Identify where a world-model / VLA ASIC must differ from a conventional LLM accelerator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Introduction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Approach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Parameters read from 12 open-source repos; FLOPs counted on official code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Roofline analysis on edge (Jetson Thor-class) and datacenter (H100) targets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Cycle-level systolic-array simulation calibrated with SCALE-Sim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Cross-review among three AI research agents (Claude, GPT, Antigravity)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Methodology Overview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  <p:graphicFrame>
        <p:nvGraphicFramePr>
          <p:cNvPr id="40" name="Table 40"/>
          <p:cNvGraphicFramePr>
            <a:graphicFrameLocks noGrp="1"/>
          </p:cNvGraphicFramePr>
          <p:nvPr/>
        </p:nvGraphicFramePr>
        <p:xfrm>
          <a:off x="1066800" y="3246120"/>
          <a:ext cx="10058400" cy="2176272"/>
        </p:xfrm>
        <a:graphic>
          <a:graphicData uri="http://schemas.openxmlformats.org/drawingml/2006/table">
            <a:tbl>
              <a:tblPr firstRow="1"/>
              <a:tblGrid>
                <a:gridCol w="2103120"/>
                <a:gridCol w="310896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Family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Models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Inference pattern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Flow-matching VLA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π0, π0.5, SmolVLA, GR00T N1.7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VLM prefix once + 4–10-step action-expert loop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Autoregressive VLA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OpenVLA, π0-FAST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VLM prefix + short LLM-style decode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Video world model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Cosmos-Predict2.5, Matrix-Game 2.0/3.0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Thousands of tokens denoised per step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World-action model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DreamZero, Flex-π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Video and action tokens denoised jointly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Latent-space MPC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V-JEPA 2-AC, TD-MPC2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Encode once, roll out hundreds of candidates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Baseline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Llama-3.1-8B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LLM prefill / decode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1737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Roofline of every inference stage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Arithmetic intensity differs by more than 10× between stages of the same model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The same stage can be compute-bound on H100 but memory-bound on an edge SoC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Flow-matching action experts sit near LLM decode; video DiTs sit far to the right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Decompose models into stages before choosing an architecture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Bottleneck = Stage × Hardware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  <p:pic>
        <p:nvPicPr>
          <p:cNvPr id="40" name="Figure 40" descr="roofline figure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34813" y="2926080"/>
            <a:ext cx="5722374" cy="3547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1737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Flow-matching VLA (π0, GR00T, SmolVLA)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VLM prefix runs once; a small action expert integrates an ODE over 4–10 steps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π0 on Thor: expert is 9% of FLOPs but 56% of latency (M = 51 GEMMs, ~60 FLOP/B)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Expert weights are only 97–415 MB in FP8 — small enough to consider on-chip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Not GEMV: each step is a 40–51-row GEMM, unlike LLM decode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VLA: The Action Expert Is Re-read Every Step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  <p:pic>
        <p:nvPicPr>
          <p:cNvPr id="40" name="Figure 40" descr="pi0 figure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61360" y="2926080"/>
            <a:ext cx="5669280" cy="3401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1874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State kept between steps (KV cache / features)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VLA: 0.7–18 MB, fixed by sensor configuration, discarded at every replan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LLM: grows with context and batch (1 GB at 8K → 17 GB at 128K)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Only AR video models (Matrix-Game 2.0, DreamZero) keep a GB-scale window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No paged KV management needed: sizes are known at compile time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Persistent State Is Small and Fixed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  <p:pic>
        <p:nvPicPr>
          <p:cNvPr id="40" name="Figure 40" descr="state figure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169920" y="3063240"/>
            <a:ext cx="5852160" cy="321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1965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Decision cost ≈ encoder + I × K × H × C_transition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Same “latent world model” label, but per-transition cost differs by 2,400–90,000×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The only robot workload that fills hardware with parallel candidates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Policy proposes, world model scores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Best-of-16 action chunks add only ~25% policy time on Thor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Latent Planning: State Representation Comes First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  <p:graphicFrame>
        <p:nvGraphicFramePr>
          <p:cNvPr id="40" name="Table 40"/>
          <p:cNvGraphicFramePr>
            <a:graphicFrameLocks noGrp="1"/>
          </p:cNvGraphicFramePr>
          <p:nvPr/>
        </p:nvGraphicFramePr>
        <p:xfrm>
          <a:off x="1066800" y="3154680"/>
          <a:ext cx="10058400" cy="1554480"/>
        </p:xfrm>
        <a:graphic>
          <a:graphicData uri="http://schemas.openxmlformats.org/drawingml/2006/table">
            <a:tbl>
              <a:tblPr firstRow="1"/>
              <a:tblGrid>
                <a:gridCol w="2743200"/>
                <a:gridCol w="329184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TD-MPC2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V-JEPA 2-AC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State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Compact latent vector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256 tokens × 1024-d per frame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Transition model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MLP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Transformer predictor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Planner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MPPI: 6 iters × 512 cand. × 3 steps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CEM: 10 iters × 400 cand. × 2 steps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Relative transition cost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1×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2,400–90,000×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1737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~60 pre-2026 LLM techniques quantified per model family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Low precision (FP8 / FP4) helps every family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LLM-serving staples (paged KV, continuous batching, speculative decoding) barely help VLA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Weight-bandwidth techniques help VLA but not video world models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Video world models gain most from step distillation and cross-step reuse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Do LLM Acceleration Techniques Transfer?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  <p:pic>
        <p:nvPicPr>
          <p:cNvPr id="40" name="Figure 40" descr="heat figure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15640" y="2926080"/>
            <a:ext cx="5760720" cy="331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1737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16,384 MACs: one 128×128 WS array vs. 16 × 32×32 arrays with per-GEMM dataflow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VLA action loop (M = 41–51): 9–12% → 59–77% utilization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Video DiT, latent MPC and VLM prefill stay at 88–98% on small arrays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LLM decode: 0–8% on any systolic array — why LLM accelerators moved to GEMV / PIM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Weight residency pays off only with small arrays (π0 chunk 38.0 → 22.9 ms on Thor)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Systolic-Array Simulation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  <p:pic>
        <p:nvPicPr>
          <p:cNvPr id="40" name="Figure 40" descr="systolic figure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169920" y="2926080"/>
            <a:ext cx="5852160" cy="325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1783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Wan2.2-5B video trunk + 1B action expert; four streams denoised jointly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Prefill: 387 observed anchor tokens pass through the 5B trunk once per call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Decode: 4 Euler steps; action-only (32 tokens) or full joint (806 tokens)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Counted FLOPs match official RTX 5090 latency at 85–93% in joint modes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Prefill, not decode, dominates action-only latency on edge hardware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Case Study: Flex-π (6B World-Action Model)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  <p:pic>
        <p:nvPicPr>
          <p:cNvPr id="40" name="Figure 40" descr="flexpi figure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706880" y="2971800"/>
            <a:ext cx="8778240" cy="3385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Exact-equivalence optimizations found in the official code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Action-only prefill: top 7 of 30 trunk layers are dead code (26% of prefill)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Text cross-attention K/V recomputed every step, though constant per episode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Anchor K/V (143 MB) is a per-call step invariant, not a cross-call cache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Case Study: Flex-π Design Space (Thor-class)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  <p:graphicFrame>
        <p:nvGraphicFramePr>
          <p:cNvPr id="40" name="Table 40"/>
          <p:cNvGraphicFramePr>
            <a:graphicFrameLocks noGrp="1"/>
          </p:cNvGraphicFramePr>
          <p:nvPr/>
        </p:nvGraphicFramePr>
        <p:xfrm>
          <a:off x="1066800" y="2788920"/>
          <a:ext cx="10058400" cy="1865376"/>
        </p:xfrm>
        <a:graphic>
          <a:graphicData uri="http://schemas.openxmlformats.org/drawingml/2006/table">
            <a:tbl>
              <a:tblPr firstRow="1"/>
              <a:tblGrid>
                <a:gridCol w="4937760"/>
                <a:gridCol w="1691640"/>
                <a:gridCol w="1691640"/>
                <a:gridCol w="1737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Design (action-only mode, ms)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Prefill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Decode ×4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Total*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BF16 ideal (baseline)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36.5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30.7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72.0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LLM-style: FP8 + one 128×128 WS array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27.5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23.3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55.6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Small arrays + FP8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18.5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15.9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39.3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+ dead-layer removal + K/V hoisting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13.7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13.8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32.3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+ action expert resident on-chip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13.7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1.1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19.6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1" name="Table note"/>
          <p:cNvSpPr txBox="1"/>
          <p:nvPr/>
        </p:nvSpPr>
        <p:spPr>
          <a:xfrm>
            <a:off x="1066800" y="4700016"/>
            <a:ext cx="10058400" cy="320040"/>
          </a:xfrm>
          <a:prstGeom prst="rect">
            <a:avLst/>
          </a:prstGeom>
          <a:noFill/>
        </p:spPr>
        <p:txBody>
          <a:bodyPr wrap="square" lIns="0" rIns="0"/>
          <a:lstStyle/>
          <a:p>
            <a:r>
              <a:rPr lang="en-US" altLang="zh-TW" sz="1200" dirty="0">
                <a:solidFill>
                  <a:srgbClr val="595959"/>
                </a:solidFill>
              </a:rPr>
              <a:t>* Totals include 4.8 ms of encoders. Ideal roofline lower bounds; Thor peak is a derived estimate.</a:t>
            </a:r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2743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Compute: many 32×32 arrays, OS/WS switching; no GEMV engine / PIM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Memory: two-tier weights; expert on-chip, trunk streamed in FP8/FP4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Provision DRAM for bandwidth, not capacity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State: statically allocated buffers; sizes known at compile time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Compiler: static schedule per mode; guaranteed worst-case latency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Front end: 3D-conv VAE; small attention unit with structured masks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Design Implications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  <p:graphicFrame>
        <p:nvGraphicFramePr>
          <p:cNvPr id="40" name="Table 40"/>
          <p:cNvGraphicFramePr>
            <a:graphicFrameLocks noGrp="1"/>
          </p:cNvGraphicFramePr>
          <p:nvPr/>
        </p:nvGraphicFramePr>
        <p:xfrm>
          <a:off x="1066800" y="3931920"/>
          <a:ext cx="10058400" cy="1243584"/>
        </p:xfrm>
        <a:graphic>
          <a:graphicData uri="http://schemas.openxmlformats.org/drawingml/2006/table">
            <a:tbl>
              <a:tblPr firstRow="1"/>
              <a:tblGrid>
                <a:gridCol w="3291840"/>
                <a:gridCol w="338328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Open spec decision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Option A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b="1" dirty="0">
                          <a:solidFill>
                            <a:srgbClr val="000000"/>
                          </a:solidFill>
                        </a:rPr>
                        <a:t>Option B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Support AR video world models?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Yes → GB-scale KV bandwidth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No → no KV memory needed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Action-expert weights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On-chip SRAM (≥ 0.4 GB)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Stream + batch candidates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Trunk precision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FP8 (still memory-bound)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400" dirty="0">
                          <a:solidFill>
                            <a:srgbClr val="000000"/>
                          </a:solidFill>
                        </a:rPr>
                        <a:t>FP4 (compute-bound prefill)</a:t>
                      </a:r>
                    </a:p>
                  </a:txBody>
                  <a:tcPr marL="68580" marR="6858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49505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Limitations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All latencies are ideal roofline / cycle-simulation lower bounds; no RTL or silicon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Flex-π checkpoint not executed; non-GEMM ops and inter-core traffic not modeled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Retracted after cross-review: Q-head pre-sampling speedup (equivalent, but no CPU speedup)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Future work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GPU measurement of π0 best-of-K (retract the bandwidth claim if K = 16 takes &gt; 2× K = 1)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Measure Flex-π dead-layer removal and K/V hoisting on GPU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Add non-GEMM latency and inter-core communication to the simulator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Limitations &amp; Future Work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C21-ECAB-84A5-87AC-3F784266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內容版面配置區 5">
            <a:extLst>
              <a:ext uri="{FF2B5EF4-FFF2-40B4-BE49-F238E27FC236}">
                <a16:creationId xmlns:a16="http://schemas.microsoft.com/office/drawing/2014/main" id="{98A79EE8-057B-9F45-406A-BCEA24834930}"/>
              </a:ext>
            </a:extLst>
          </p:cNvPr>
          <p:cNvSpPr txBox="1">
            <a:spLocks/>
          </p:cNvSpPr>
          <p:nvPr/>
        </p:nvSpPr>
        <p:spPr bwMode="auto">
          <a:xfrm>
            <a:off x="609600" y="1175657"/>
            <a:ext cx="10972800" cy="49505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accent6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altLang="zh-TW" sz="2400" dirty="0"/>
              <a:t>Questions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How much of the utilization gain do interconnect and control of many small arrays cost?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Is ≥ 0.4 GB of on-chip SRAM for expert weights worthwhile, or should candidate batching come first?</a:t>
            </a:r>
          </a:p>
          <a:p>
            <a:pPr lvl="1">
              <a:spcAft>
                <a:spcPts val="0"/>
              </a:spcAft>
            </a:pPr>
            <a:r>
              <a:rPr lang="en-US" altLang="zh-TW" sz="2000" dirty="0"/>
              <a:t>Which unit should a first RTL / FPGA prototype validate?</a:t>
            </a:r>
          </a:p>
          <a:p>
            <a:pPr>
              <a:spcAft>
                <a:spcPts val="0"/>
              </a:spcAft>
            </a:pPr>
            <a:r>
              <a:rPr lang="en-US" altLang="zh-TW" sz="2400" dirty="0"/>
              <a:t>Thank you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D642BDC-5B19-506B-CC3D-CAF272E3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7155"/>
            <a:ext cx="10972800" cy="582594"/>
          </a:xfrm>
        </p:spPr>
        <p:txBody>
          <a:bodyPr wrap="square" anchor="ctr">
            <a:normAutofit fontScale="90000"/>
          </a:bodyPr>
          <a:lstStyle/>
          <a:p>
            <a:r>
              <a:rPr lang="en-US" altLang="zh-TW" dirty="0"/>
              <a:t>Discussion</a:t>
            </a:r>
            <a:endParaRPr lang="en-US" altLang="zh-TW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73AECC-E727-FB48-3345-1117D9DF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1F77C1-B770-47FB-877F-E631DD26508E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821465"/>
      </p:ext>
    </p:extLst>
  </p:cSld>
  <p:clrMapOvr>
    <a:masterClrMapping/>
  </p:clrMapOvr>
</p:sld>
</file>

<file path=ppt/theme/theme1.xml><?xml version="1.0" encoding="utf-8"?>
<a:theme xmlns:a="http://schemas.openxmlformats.org/drawingml/2006/main" name="VSP Lab slide 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Noto Sans">
      <a:majorFont>
        <a:latin typeface="Noto Sans CJK TC Bold"/>
        <a:ea typeface="Noto Sans CJK TC Bold"/>
        <a:cs typeface=""/>
      </a:majorFont>
      <a:minorFont>
        <a:latin typeface="Noto Sans CJK TC Regular"/>
        <a:ea typeface="Noto Sans CJK TC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 cap="sq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SP Lab slide 1" id="{51D53EE2-805E-4DA6-AEF6-C1DD0F0CA14A}" vid="{EB26B7B2-920C-4DDE-A368-29A4536648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1279F053BA02E4F94D67DE04A4ECA34" ma:contentTypeVersion="9" ma:contentTypeDescription="Create a new document." ma:contentTypeScope="" ma:versionID="73187cd9e376a44e24289fef512b6343">
  <xsd:schema xmlns:xsd="http://www.w3.org/2001/XMLSchema" xmlns:xs="http://www.w3.org/2001/XMLSchema" xmlns:p="http://schemas.microsoft.com/office/2006/metadata/properties" xmlns:ns3="5fc3d4e6-f452-449b-b608-9f91deebd10c" targetNamespace="http://schemas.microsoft.com/office/2006/metadata/properties" ma:root="true" ma:fieldsID="1df3acd97b856b47a5b6af2a56b36184" ns3:_="">
    <xsd:import namespace="5fc3d4e6-f452-449b-b608-9f91deebd10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c3d4e6-f452-449b-b608-9f91deebd1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Length (seconds)" ma:internalName="MediaLengthInSeconds" ma:readOnly="true">
      <xsd:simpleType>
        <xsd:restriction base="dms:Unknown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3FC4E2A-9AAC-4D7F-95F3-46E76EFBA0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c3d4e6-f452-449b-b608-9f91deebd10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CCA3220-4C56-4D8B-9059-8ECD92FE7543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terms/"/>
    <ds:schemaRef ds:uri="5fc3d4e6-f452-449b-b608-9f91deebd10c"/>
    <ds:schemaRef ds:uri="http://schemas.microsoft.com/office/infopath/2007/PartnerControls"/>
    <ds:schemaRef ds:uri="http://www.w3.org/XML/1998/namespace"/>
    <ds:schemaRef ds:uri="http://purl.org/dc/dcmitype/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93E4E725-CB79-46AE-9E85-C5288E53594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vsplab</Template>
  <TotalTime>20111</TotalTime>
  <Words>474</Words>
  <Application>Microsoft Office PowerPoint</Application>
  <PresentationFormat>寬螢幕</PresentationFormat>
  <Paragraphs>96</Paragraphs>
  <Slides>13</Slides>
  <Notes>12</Notes>
  <HiddenSlides>2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9" baseType="lpstr">
      <vt:lpstr>Noto Sans CJK TC Bold</vt:lpstr>
      <vt:lpstr>Noto Sans CJK TC Regular</vt:lpstr>
      <vt:lpstr>Arial</vt:lpstr>
      <vt:lpstr>Calibri</vt:lpstr>
      <vt:lpstr>Times New Roman</vt:lpstr>
      <vt:lpstr>VSP Lab slide 1</vt:lpstr>
      <vt:lpstr>AccelCIM: Systematic Dataflow Exploration for SRAM Compute-in-Memory Accelerator</vt:lpstr>
      <vt:lpstr>Introduction</vt:lpstr>
      <vt:lpstr>AccelCIM Framework Overview</vt:lpstr>
      <vt:lpstr>Systematic Design Space</vt:lpstr>
      <vt:lpstr>Systematic Design Space</vt:lpstr>
      <vt:lpstr>Systematic Design Space</vt:lpstr>
      <vt:lpstr>Systematic Design Space</vt:lpstr>
      <vt:lpstr>Systematic Design Space</vt:lpstr>
      <vt:lpstr>CIM Macro Array Generator</vt:lpstr>
      <vt:lpstr>Evaluation</vt:lpstr>
      <vt:lpstr>Evaluation</vt:lpstr>
      <vt:lpstr>Evaluation</vt:lpstr>
      <vt:lpstr>Evaluation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連samba</dc:title>
  <dc:creator>user</dc:creator>
  <cp:lastModifiedBy>陳昇達</cp:lastModifiedBy>
  <cp:revision>372</cp:revision>
  <dcterms:created xsi:type="dcterms:W3CDTF">2022-09-07T11:53:23Z</dcterms:created>
  <dcterms:modified xsi:type="dcterms:W3CDTF">2026-05-05T09:25:04Z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0x01010061279F053BA02E4F94D67DE04A4ECA34</vt:lpwstr>
  </property>
</Properties>
</file>