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8"/>
  </p:notesMasterIdLst>
  <p:sldIdLst>
    <p:sldId id="256" r:id="rId5"/>
    <p:sldId id="459" r:id="rId24"/>
    <p:sldId id="460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68" r:id="rId33"/>
    <p:sldId id="469" r:id="rId34"/>
    <p:sldId id="470" r:id="rId35"/>
    <p:sldId id="471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子嘉 曾" initials="子嘉" lastIdx="2" clrIdx="0">
    <p:extLst>
      <p:ext uri="{19B8F6BF-5375-455C-9EA6-DF929625EA0E}">
        <p15:presenceInfo xmlns:p15="http://schemas.microsoft.com/office/powerpoint/2012/main" userId="子嘉 曾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D8F"/>
    <a:srgbClr val="0033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78031" autoAdjust="0"/>
  </p:normalViewPr>
  <p:slideViewPr>
    <p:cSldViewPr snapToGrid="0">
      <p:cViewPr varScale="1">
        <p:scale>
          <a:sx n="110" d="100"/>
          <a:sy n="110" d="100"/>
        </p:scale>
        <p:origin x="55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5" Type="http://schemas.openxmlformats.org/officeDocument/2006/relationships/slide" Target="slides/slide1.xml"/><Relationship Id="rId23" Type="http://schemas.openxmlformats.org/officeDocument/2006/relationships/tableStyles" Target="tableStyles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22" Type="http://schemas.openxmlformats.org/officeDocument/2006/relationships/theme" Target="theme/theme1.xml"/>  <Relationship Id="rId24" Type="http://schemas.openxmlformats.org/officeDocument/2006/relationships/slide" Target="slides/slide14.xml"/>
  <Relationship Id="rId25" Type="http://schemas.openxmlformats.org/officeDocument/2006/relationships/slide" Target="slides/slide15.xml"/>
  <Relationship Id="rId26" Type="http://schemas.openxmlformats.org/officeDocument/2006/relationships/slide" Target="slides/slide16.xml"/>
  <Relationship Id="rId27" Type="http://schemas.openxmlformats.org/officeDocument/2006/relationships/slide" Target="slides/slide17.xml"/>
  <Relationship Id="rId28" Type="http://schemas.openxmlformats.org/officeDocument/2006/relationships/slide" Target="slides/slide18.xml"/>
  <Relationship Id="rId29" Type="http://schemas.openxmlformats.org/officeDocument/2006/relationships/slide" Target="slides/slide19.xml"/>
  <Relationship Id="rId30" Type="http://schemas.openxmlformats.org/officeDocument/2006/relationships/slide" Target="slides/slide20.xml"/>
  <Relationship Id="rId31" Type="http://schemas.openxmlformats.org/officeDocument/2006/relationships/slide" Target="slides/slide21.xml"/>
  <Relationship Id="rId32" Type="http://schemas.openxmlformats.org/officeDocument/2006/relationships/slide" Target="slides/slide22.xml"/>
  <Relationship Id="rId33" Type="http://schemas.openxmlformats.org/officeDocument/2006/relationships/slide" Target="slides/slide23.xml"/>
  <Relationship Id="rId34" Type="http://schemas.openxmlformats.org/officeDocument/2006/relationships/slide" Target="slides/slide24.xml"/>
  <Relationship Id="rId35" Type="http://schemas.openxmlformats.org/officeDocument/2006/relationships/slide" Target="slides/slide25.xml"/>
  <Relationship Id="rId36" Type="http://schemas.openxmlformats.org/officeDocument/2006/relationships/slide" Target="slides/slide2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9BC36-B244-4E7A-981C-047D427D56BB}" type="datetimeFigureOut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73369-BF79-441B-987B-EB4FF335C5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574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0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0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老師好，今天由我來報告。題目是：World Model 與 VLA 的推論加速——機器人用的 ASIC，應該在哪裡和語言模型加速器做出區別。</a:t>
            </a:r>
          </a:p>
          <a:p>
            <a:r>
              <a:rPr lang="zh-TW" altLang="en-US" dirty="0"/>
              <a:t>這份報告整理了我們研究 repo 裡三輪的分析，以及一個六十億參數模型的深入案例。報告大約十八分鐘，最後有三個問題想請教老師。</a:t>
            </a:r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先說研究背景。這兩年機器人基礎模型發展很快，大致有三類：直接從畫面和指令輸出動作的 VLA；會預測未來畫面的影片世界模型；以及兩者合在一起、同時預測畫面和動作的世界動作模型。這些模型正在從資料中心，往機器人身上的邊緣晶片移動。</a:t>
            </a:r>
          </a:p>
          <a:p>
            <a:r>
              <a:rPr lang="zh-TW" altLang="en-US" dirty="0"/>
              <a:t>問題是，目前的 AI 加速器幾乎都是為語言模型服務最佳化的。語言模型的特徵是很長的自回歸 decode，一次生一個 token，而且 KV cache 會隨對話一路長大。</a:t>
            </a:r>
          </a:p>
          <a:p>
            <a:r>
              <a:rPr lang="zh-TW" altLang="en-US" dirty="0"/>
              <a:t>但機器人推論的形狀不一樣：計算圖是固定的，去噪只有四到十步，每一步處理的是幾十到幾百列的中等大小矩陣。所以我們不清楚語言模型那一套加速技巧有多少能搬過來，也不清楚機器人晶片真正需要哪些功能。</a:t>
            </a:r>
          </a:p>
          <a:p>
            <a:r>
              <a:rPr lang="zh-TW" altLang="en-US" dirty="0"/>
              <a:t>這份研究的目標，就是找出世界模型和 VLA 的 ASIC，應該在哪裡和傳統的語言模型加速器做出區別。</a:t>
            </a:r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研究方法有四個部分。第一，我們從十二個開源模型的原始碼直接讀出架構參數，計算量也是在官方程式碼上直接計數，不靠論文描述。第二，在兩種硬體上做 roofline 分析：邊緣端以 NVIDIA Thor 等級為準，資料中心端以 H100 為準。第三，用 SCALE-Sim 校準過的週期級模擬器，評估不同陣列形狀的實際利用率。第四，這個 repo 由三個 AI 研究代理分工撰寫、互相審查，審查確實抓出了一些錯誤，我最後會說明。</a:t>
            </a:r>
          </a:p>
          <a:p>
            <a:r>
              <a:rPr lang="zh-TW" altLang="en-US" dirty="0"/>
              <a:t>【指著表格】下面這張表是分析對象，分成五類。Flow-matching 的 VLA，例如 π0 和 GR00T，特徵是前段跑一次、後段的動作專家迴圈四到十步。自回歸的 VLA，像 OpenVLA，本質上就是一小段語言模型 decode。影片世界模型，每一步要去噪幾千個 token。世界動作模型，同時去噪影片和動作。潛在空間的模型預測控制，編碼一次之後平行展開幾百條候選。最後一列是 Llama 3.1 8B，當作語言模型的對照組。</a:t>
            </a:r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接下來是貫穿整份研究最重要的觀念：瓶頸不是模型類別的屬性，而是「運算階段乘上硬體」的組合。</a:t>
            </a:r>
          </a:p>
          <a:p>
            <a:r>
              <a:rPr lang="zh-TW" altLang="en-US" dirty="0"/>
              <a:t>【指著圖】這張是 roofline 圖。橫軸是每從 DRAM 搬一個 byte 能做幾次運算，也就是算術強度；縱軸是可達到的算力。上面實線是 H100，下面虛線是 Thor。圖上每一個點，是某個模型的某一個階段。</a:t>
            </a:r>
          </a:p>
          <a:p>
            <a:r>
              <a:rPr lang="zh-TW" altLang="en-US" dirty="0"/>
              <a:t>可以看到三件事。第一，同一個模型的不同階段，算術強度可以差十倍以上，例如 VLA 的前段在右邊，動作專家在左邊。第二，同一個階段在 H100 上可能已經過了轉折點、是算力受限，但到頻寬只有約七分之一的 Thor 上，就落在斜線上、變成頻寬受限。第三，flow-matching 的動作專家落在接近語言模型 decode 的區域，而影片 DiT 在最右邊。</a:t>
            </a:r>
          </a:p>
          <a:p>
            <a:r>
              <a:rPr lang="zh-TW" altLang="en-US" dirty="0"/>
              <a:t>所以設計晶片之前，要先把模型拆成階段，各自算出形狀和算術強度，再對照硬體，而不是先問這是哪一類模型。</a:t>
            </a:r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先看第一類，flow-matching 的 VLA。它的推論分兩段：前段的視覺語言模型把畫面和指令處理一次；後段是一個小型的動作專家，從雜訊出發做常微分方程積分，π0 積十步，GR00T 積四步。</a:t>
            </a:r>
          </a:p>
          <a:p>
            <a:r>
              <a:rPr lang="zh-TW" altLang="en-US" dirty="0"/>
              <a:t>以 π0 在 Thor 上為例，動作專家只佔百分之九的計算量，卻佔了百分之五十六的延遲。原因是每一步都要重新讀一次專家的權重，但每次只服務五十一列的矩陣，每個 byte 只做大約六十次運算，所以是頻寬受限。</a:t>
            </a:r>
          </a:p>
          <a:p>
            <a:r>
              <a:rPr lang="zh-TW" altLang="en-US" dirty="0"/>
              <a:t>【指著圖】這張圖橫軸是積分步數，縱軸是一段動作的延遲。藍線是權重每步從 DRAM 重讀，延遲隨步數線性上升；橘線是把專家權重放在片上，幾乎是平的。專家權重在 FP8 下只有 97 到 415 MB，是片上 SRAM 有機會裝得下的量級；語言模型的十幾 GB 就不可能。</a:t>
            </a:r>
          </a:p>
          <a:p>
            <a:r>
              <a:rPr lang="zh-TW" altLang="en-US" dirty="0"/>
              <a:t>最後要強調：這不是矩陣乘向量。每一步是四十到五十一列的矩陣，和語言模型 decode 一次一列有本質差別，這會影響後面陣列形狀的選擇。</a:t>
            </a:r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第二個差異在需要保存的狀態，也就是 KV cache 或中間特徵。</a:t>
            </a:r>
          </a:p>
          <a:p>
            <a:r>
              <a:rPr lang="zh-TW" altLang="en-US" dirty="0"/>
              <a:t>【指著圖】這張圖橫軸是對數尺度的大小。灰色是語言模型，藍色是 VLA，橘色是影片世界模型，綠色是世界動作模型。</a:t>
            </a:r>
          </a:p>
          <a:p>
            <a:r>
              <a:rPr lang="zh-TW" altLang="en-US" dirty="0"/>
              <a:t>VLA 的狀態只有零點七到十八 MB，大小由相機數和每張圖的 token 數決定，每次重新規劃就整個丟掉。語言模型則隨上下文和批次長大，八千 token 約 1 GB，十二萬八千 token 就到 17 GB。只有逐段自回歸生成的影片模型，像 Matrix-Game 2.0 和 DreamZero，需要跨段保存 GB 級的滑動視窗。</a:t>
            </a:r>
          </a:p>
          <a:p>
            <a:r>
              <a:rPr lang="zh-TW" altLang="en-US" dirty="0"/>
              <a:t>所以這類晶片不需要 PagedAttention 那種分頁式的 KV 管理。所有狀態的大小在編譯時就能算出來，用靜態配置的緩衝區就夠了。</a:t>
            </a:r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第三類是在潛在空間做規劃的模型，用來做模型預測控制。一次決策的成本，大約是編碼成本，加上搜尋輪數 I、乘候選數 K、乘預測步數 H、再乘每次轉移的成本。</a:t>
            </a:r>
          </a:p>
          <a:p>
            <a:r>
              <a:rPr lang="zh-TW" altLang="en-US" dirty="0"/>
              <a:t>【指著表格】我們拿兩個真實模型代進去。TD-MPC2 的狀態是一個緊湊向量，轉移模型是小型 MLP，規劃器是 MPPI，六輪、五百一十二條候選、三步。V-JEPA 2-AC 的狀態是每幀 256 個 token、每個 1024 維，轉移模型是 Transformer，規劃器是 CEM，十輪、四百條候選、兩步。兩者都叫潛在世界模型，但每次轉移的成本差了 2,400 到 90,000 倍。</a:t>
            </a:r>
          </a:p>
          <a:p>
            <a:r>
              <a:rPr lang="zh-TW" altLang="en-US" dirty="0"/>
              <a:t>所以我們的結論是：狀態用向量還是 token 集合來表示，是 ASIC 規格的第一個參數，比候選數、步數都重要。這類模型也是唯一能用平行候選把硬體填滿的機器人工作負載。</a:t>
            </a:r>
          </a:p>
          <a:p>
            <a:r>
              <a:rPr lang="zh-TW" altLang="en-US" dirty="0"/>
              <a:t>另一個發現是，「policy 提候選、世界模型評分」這種架構在硬體上幾乎是免費的：在 Thor 上讓 π0 一次產生十六段候選動作，只比一段多百分之二十五的時間，因為多出來的候選搭在原本就要做的權重讀取上。</a:t>
            </a:r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接著我們問：語言模型的加速技巧到底能搬多少？我們把 2026 年以前大約六十項技巧，硬體和軟體都有，逐項量化對每一類模型的效果。</a:t>
            </a:r>
          </a:p>
          <a:p>
            <a:r>
              <a:rPr lang="zh-TW" altLang="en-US" dirty="0"/>
              <a:t>【指著熱圖】這張熱圖每一列是一項技巧，每一行是一個模型，顏色越深代表在 Thor 上的加速越大，灰色代表不適用。</a:t>
            </a:r>
          </a:p>
          <a:p>
            <a:r>
              <a:rPr lang="zh-TW" altLang="en-US" dirty="0"/>
              <a:t>結論可以歸納成四點。第一，低精度，也就是 FP8 和 FP4，對每一類都有效，是唯一的通用解。第二，語言模型 serving 的招牌技巧，像分頁式 KV、continuous batching、投機解碼，對 VLA 幾乎沒有效果，因為它們都假設狀態會長大、有很多使用者可以合併，機器人兩者都沒有。第三，減少權重頻寬的技巧對 VLA 有效，但對影片世界模型無效，因為後者是算力受限。第四，影片世界模型最有效的是擴散模型特有的槓桿：步數蒸餾，以及跨去噪步重用特徵，圖上顏色最深的幾格就是。</a:t>
            </a:r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前面都在談頻寬，這一頁補上另一半：算力實際用到多少。我們用 SCALE-Sim 對 systolic array 做週期級模擬，代入每個模型真實的矩陣形狀。</a:t>
            </a:r>
          </a:p>
          <a:p>
            <a:r>
              <a:rPr lang="zh-TW" altLang="en-US" dirty="0"/>
              <a:t>固定一萬六千三百八十四個乘加單元，比較兩種切法：一個 TPU 式的 128 乘 128 weight-stationary 大陣列，和十六個 32 乘 32 的小陣列，並讓每個矩陣自行選擇資料流。</a:t>
            </a:r>
          </a:p>
          <a:p>
            <a:r>
              <a:rPr lang="zh-TW" altLang="en-US" dirty="0"/>
              <a:t>【指著熱圖】每一列是一個工作負載，左邊一組是 128 乘 128，右邊一組是 32 乘 32。VLA 的動作迴圈只有四十一到五十一列，在大陣列上只有百分之九到十二的利用率，換成小陣列提高到百分之五十九到七十七。影片 DiT、潛在規劃和 VLM 前段這些大矩陣，在小陣列上仍有百分之八十八到九十八，所以小陣列並不犧牲大矩陣。最下面兩列是語言模型 decode，在任何 systolic array 上都只有零到百分之八，這也解釋了為什麼語言模型加速器要轉向 GEMV 引擎或記憶體內運算。</a:t>
            </a:r>
          </a:p>
          <a:p>
            <a:r>
              <a:rPr lang="zh-TW" altLang="en-US" dirty="0"/>
              <a:t>最後一點：專家權重放片上，只有搭配小陣列才有效。在 Thor 等級晶片上，π0 一段動作從 38.0 毫秒降到 22.9 毫秒；如果仍用大陣列，瓶頸只是換成利用率。</a:t>
            </a:r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為了驗證前面的觀念，我們挑了一個新模型做深入解剖：Flex-π，六十億參數的世界動作模型。它用 Wan 2.2 的五十億參數影片模型當主幹，再加一個十億參數的動作專家，同時去噪四種串流：未來 RGB、點雲、DINOv3 語意特徵和動作。</a:t>
            </a:r>
          </a:p>
          <a:p>
            <a:r>
              <a:rPr lang="zh-TW" altLang="en-US" dirty="0"/>
              <a:t>它的推論分兩段。Prefill：把當下觀測編成三百八十七個錨點 token，通過主幹一次，存下每層的 K 和 V。Decode：做四步 Euler 積分，只出動作時每步處理三十二個 token，全部一起生成時是八百零六個。</a:t>
            </a:r>
          </a:p>
          <a:p>
            <a:r>
              <a:rPr lang="zh-TW" altLang="en-US" dirty="0"/>
              <a:t>【指著左圖】左圖是計算量的去向，主要都是線性層，attention 分數只佔百分之二到五。【指著右圖】右圖是各模式的理想延遲和官方 RTX 5090 實測的比較，全部生成的模式吻合到百分之八十五到九十三，代表我們的計數可信。</a:t>
            </a:r>
          </a:p>
          <a:p>
            <a:r>
              <a:rPr lang="zh-TW" altLang="en-US" dirty="0"/>
              <a:t>最重要的是最後一點：在邊緣硬體上，只出動作的延遲主體不是 decode，而是每次推論都要重做的 prefill。語言模型的 prefill 可以被幾百步 decode 攤提，這裡不行。</a:t>
            </a:r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從官方原始碼裡，我們還找到幾處結果完全等價、可以直接刪掉的計算。第一，Flex-π 採用分層連接設計，動作只在中間十六層讀取視覺資訊；但只出動作時，prefill 仍跑完三十層，最上面七層算出來沒有人用，約佔 prefill 的百分之二十六。第二，文字指令的 cross-attention K、V 每一步都重算，其實整個任務期間都不變。第三，存下來的錨點 K/V 只有 143 MB，它不是跨推論的快取，下一次推論看到新畫面就要重建；它的價值只在同一次推論的四步之間。</a:t>
            </a:r>
          </a:p>
          <a:p>
            <a:r>
              <a:rPr lang="zh-TW" altLang="en-US" dirty="0"/>
              <a:t>【指著表格】這張表是 Thor 等級晶片上，只出動作模式的估算。BF16 理想值是 72 毫秒；用語言模型式的設計，FP8 加單一大陣列，只能降到 55.6；換成小陣列降到 39.3；再刪除死碼、提出不變量，降到 32.3；最後讓動作專家常駐片上，降到 19.6 毫秒。</a:t>
            </a:r>
          </a:p>
          <a:p>
            <a:r>
              <a:rPr lang="zh-TW" altLang="en-US" dirty="0"/>
              <a:t>做完這些以後，剩下的瓶頸幾乎只有每次推論都要串流一次五十億參數的主幹。表中總計含編碼器約 4.8 毫秒，都是理想下限。</a:t>
            </a:r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綜合以上，我們建議的晶片和語言模型加速器有五個區別。運算：多個 32 乘 32 小陣列，支援 output-stationary 和 weight-stationary 切換，不做 GEMV 引擎或記憶體內運算。記憶體：兩級權重，反覆讀的專家放片上，只讀一次的主幹用 FP8 或 FP4 串流；DRAM 規格以頻寬為優先，而不是容量。狀態：靜態配置的緩衝區，大小在編譯時已知。編譯器：每種推論模式一張靜態排程，刪除冗餘計算並保證最壞延遲，這對閉迴路控制比平均吞吐量更重要。前端：支援三維卷積的 VAE，注意力只需要一個能處理結構化遮罩的小單元。</a:t>
            </a:r>
          </a:p>
          <a:p>
            <a:r>
              <a:rPr lang="zh-TW" altLang="en-US" dirty="0"/>
              <a:t>【指著表格】規格上有三個需要先決定的取捨。第一，要不要支援自回歸的影片世界模型：支援就要預留 GB 級的 KV 頻寬，不支援就完全不需要 KV 記憶體。第二，動作專家要放片上，需要 0.4 GB 以上的 SRAM；還是用串流加多候選批次來分攤讀取，不增加面積。第三，主幹精度：FP8 在 Thor 等級頻寬下仍是頻寬受限，要到 FP4 才能讓 prefill 轉成算力受限。</a:t>
            </a:r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必須說明幾個限制。所有延遲都是理想 roofline 或週期模擬的下限，沒有 RTL，也沒有晶片實測。我們沒有實際執行 Flex-π 的權重，非矩陣運算和多核心之間的通訊也還沒有建模。互審過程中有一項說法被撤回：我們曾宣稱 TD-MPC2 的 Q 值頭「先抽樣再計算」可以加速，重做有鑑別力的測試後，等價性成立，但在 CPU 上沒有變快，所以撤回了加速的說法。</a:t>
            </a:r>
          </a:p>
          <a:p>
            <a:r>
              <a:rPr lang="zh-TW" altLang="en-US" dirty="0"/>
              <a:t>下一步有三件事。第一，在 GPU 上實測 π0 一次產生多段候選的延遲；如果十六段候選超過一段的兩倍，我們就撤回「動作專家受頻寬限制」的結論。第二，在 GPU 上量測 Flex-π 刪除死碼和提出文字 K/V 的實際效益。第三，在模擬器中加入非矩陣運算和核心間通訊，評估完整的控制週期預算。</a:t>
            </a:r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總結一句話：機器人世界模型的晶片，差異化的方向不是更大，而是更貼合它固定、短而中等大小的計算形狀。</a:t>
            </a:r>
          </a:p>
          <a:p>
            <a:r>
              <a:rPr lang="zh-TW" altLang="en-US" dirty="0"/>
              <a:t>最後想請教老師三個問題。第一，用多個小陣列取代單一大陣列，互連和控制的面積與功耗代價，大概會吃掉多少利用率上的好處？第二，專家權重放片上需要 0.4 GB 以上的 SRAM，以目前的製程和封裝，老師覺得值得嗎，還是應該優先做串流加多候選批次？第三，如果要往 RTL 或 FPGA 原型推進，應該先驗證哪一個單元，最能證明這個方向成立？</a:t>
            </a:r>
          </a:p>
          <a:p>
            <a:r>
              <a:rPr lang="zh-TW" altLang="en-US" dirty="0"/>
              <a:t>報告到這裡，謝謝老師。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2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703EBC-CFD9-42D6-B893-BD68ACABA0A3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01F196-D1D1-4FBB-847B-2BD89757F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472855" y="285752"/>
            <a:ext cx="594663" cy="59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08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2" y="1000110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8259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9"/>
            <a:ext cx="10972800" cy="505461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780393-A77D-46AF-AF99-558B72E71B61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25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35885C-FC22-493F-91F7-E733AA5EA2C5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633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2" y="1500191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03EF0A-F8FF-47DF-8E49-E89576D75419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56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2" y="1500191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58BE78-8297-4634-994A-F44F5A6C634C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33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/>
          <p:cNvCxnSpPr/>
          <p:nvPr/>
        </p:nvCxnSpPr>
        <p:spPr>
          <a:xfrm>
            <a:off x="571502" y="1500191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8A2941-D17F-4640-A28C-60D7CC31BAC5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176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A1A174-252C-4B7B-84B0-A0C7FA76DFE5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5050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DC83DC-39E7-427A-ACB5-927E25EB9EBD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5E205D-F611-4F28-8C64-42CD3F737FF5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11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2" y="1500191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5E22C3-6D95-4E79-ADCB-8250C11E6278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965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66DC53-9ACD-4717-B545-D6CC9C164E39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63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612854C8-A503-47AB-AD27-7F5D3619AF57}" type="datetime1">
              <a:rPr lang="zh-TW" altLang="en-US" smtClean="0"/>
              <a:t>2026/5/5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E61F77C1-B770-47FB-877F-E631DD26508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i="0" kern="0" baseline="0" dirty="0">
                <a:ln w="12700">
                  <a:noFill/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Platform Based Design Group</a:t>
            </a:r>
            <a:endParaRPr kumimoji="0" lang="zh-TW" altLang="en-US" sz="1200" b="1" i="0" kern="0" baseline="0">
              <a:ln w="12700">
                <a:noFill/>
                <a:prstDash val="solid"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0" kern="0" spc="120" baseline="0" dirty="0">
                <a:latin typeface="Arial" pitchFamily="34" charset="0"/>
                <a:cs typeface="Arial" pitchFamily="34" charset="0"/>
              </a:rPr>
              <a:t>NYCU.EE, Hsinchu, Taiwan</a:t>
            </a:r>
            <a:endParaRPr kumimoji="0" lang="zh-TW" altLang="en-US" sz="1200" b="0" kern="0" spc="120" baseline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" y="1511165"/>
            <a:ext cx="285751" cy="53468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dirty="0">
                <a:latin typeface="Arial" pitchFamily="34" charset="0"/>
                <a:cs typeface="Arial" pitchFamily="34" charset="0"/>
              </a:rPr>
              <a:t>VLSI Signal Processing Lab.</a:t>
            </a:r>
            <a:endParaRPr kumimoji="0" lang="zh-TW" altLang="en-US" sz="12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43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notesSlide" Target="../notesSlides/notesSlide200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openxmlformats.org/officeDocument/2006/relationships/notesSlide" Target="../notesSlides/notesSlide20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openxmlformats.org/officeDocument/2006/relationships/notesSlide" Target="../notesSlides/notesSlide20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50" Type="http://schemas.openxmlformats.org/officeDocument/2006/relationships/image" Target="../media/wm_roofline.png"/><Relationship Id="rId90" Type="http://schemas.openxmlformats.org/officeDocument/2006/relationships/notesSlide" Target="../notesSlides/notesSlide20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50" Type="http://schemas.openxmlformats.org/officeDocument/2006/relationships/image" Target="../media/wm_pi0.png"/><Relationship Id="rId90" Type="http://schemas.openxmlformats.org/officeDocument/2006/relationships/notesSlide" Target="../notesSlides/notesSlide20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50" Type="http://schemas.openxmlformats.org/officeDocument/2006/relationships/image" Target="../media/wm_state.png"/><Relationship Id="rId90" Type="http://schemas.openxmlformats.org/officeDocument/2006/relationships/notesSlide" Target="../notesSlides/notesSlide205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openxmlformats.org/officeDocument/2006/relationships/notesSlide" Target="../notesSlides/notesSlide206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50" Type="http://schemas.openxmlformats.org/officeDocument/2006/relationships/image" Target="../media/wm_heat.png"/><Relationship Id="rId90" Type="http://schemas.openxmlformats.org/officeDocument/2006/relationships/notesSlide" Target="../notesSlides/notesSlide20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50" Type="http://schemas.openxmlformats.org/officeDocument/2006/relationships/image" Target="../media/wm_systolic.png"/><Relationship Id="rId90" Type="http://schemas.openxmlformats.org/officeDocument/2006/relationships/notesSlide" Target="../notesSlides/notesSlide208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50" Type="http://schemas.openxmlformats.org/officeDocument/2006/relationships/image" Target="../media/wm_flexpi.png"/><Relationship Id="rId90" Type="http://schemas.openxmlformats.org/officeDocument/2006/relationships/notesSlide" Target="../notesSlides/notesSlide209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openxmlformats.org/officeDocument/2006/relationships/notesSlide" Target="../notesSlides/notesSlide210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openxmlformats.org/officeDocument/2006/relationships/notesSlide" Target="../notesSlides/notesSlide21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openxmlformats.org/officeDocument/2006/relationships/notesSlide" Target="../notesSlides/notesSlide21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openxmlformats.org/officeDocument/2006/relationships/notesSlide" Target="../notesSlides/notesSlide2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0BD580-A633-67B6-AA03-7B9B8B98C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2918"/>
            <a:ext cx="10363200" cy="1547535"/>
          </a:xfrm>
        </p:spPr>
        <p:txBody>
          <a:bodyPr/>
          <a:lstStyle/>
          <a:p>
            <a:pPr algn="ctr"/>
            <a:r>
              <a:rPr lang="en-US" altLang="zh-TW" sz="3200" dirty="0" err="1">
                <a:solidFill>
                  <a:prstClr val="black"/>
                </a:solidFill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World Model &amp; VLA Inference: </a:t>
            </a:r>
            <a:r>
              <a:rPr lang="en-US" altLang="zh-TW" sz="3200" dirty="0">
                <a:solidFill>
                  <a:prstClr val="black"/>
                </a:solidFill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Where a Robot ASIC</a:t>
            </a:r>
            <a:br>
              <a:rPr lang="en-US" altLang="zh-TW" sz="3200" dirty="0">
                <a:solidFill>
                  <a:prstClr val="black"/>
                </a:solidFill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</a:br>
            <a:r>
              <a:rPr lang="en-US" altLang="zh-TW" sz="3200" dirty="0">
                <a:solidFill>
                  <a:prstClr val="black"/>
                </a:solidFill>
                <a:latin typeface="Times New Roman" pitchFamily="18" charset="0"/>
                <a:ea typeface="Arial Unicode MS" pitchFamily="34" charset="-120"/>
                <a:cs typeface="Times New Roman" pitchFamily="18" charset="0"/>
              </a:rPr>
              <a:t>Must Differ from LLM Accelerators</a:t>
            </a:r>
            <a:endParaRPr kumimoji="0" lang="en-US" altLang="zh-TW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Arial Unicode MS" pitchFamily="34" charset="-120"/>
              <a:cs typeface="Times New Roman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329723E-B3BF-69BE-5DC5-086DF1C50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528145"/>
          </a:xfrm>
        </p:spPr>
        <p:txBody>
          <a:bodyPr/>
          <a:lstStyle/>
          <a:p>
            <a:pPr algn="ctr"/>
            <a:r>
              <a:rPr lang="en-US" altLang="zh-TW" dirty="0"/>
              <a:t>2026.10.13</a:t>
            </a:r>
            <a:r>
              <a:rPr lang="zh-TW" altLang="en-US" dirty="0"/>
              <a:t/>
            </a:r>
            <a:endParaRPr lang="zh-TW" altLang="en-US" sz="32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E07852-6A38-BF9B-C704-11D843F1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8480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4950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Background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Robot foundation models (VLA, video world models, world-action models) are moving onto edge SoCs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Existing AI accelerators are tuned for LLM serving: long autoregressive decode and a growing KV cache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Problem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Robot inference has a different shape: fixed graphs, 4–10 denoising steps, medium-size GEMMs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Unclear which LLM-accelerator techniques transfer, and which features a robot ASIC actually needs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Goal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Identify where a world-model / VLA ASIC must differ from a conventional LLM accelerator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Introduction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Approach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Parameters read from 12 open-source repos; FLOPs counted on official code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Roofline analysis on edge (Jetson Thor-class) and datacenter (H100) targets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Cycle-level systolic-array simulation calibrated with SCALE-Sim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Cross-review among three AI research agents (Claude, GPT, Antigravity)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Methodology Overview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1066800" y="3246120"/>
          <a:ext cx="10058400" cy="2176272"/>
        </p:xfrm>
        <a:graphic>
          <a:graphicData uri="http://schemas.openxmlformats.org/drawingml/2006/table">
            <a:tbl>
              <a:tblPr firstRow="1"/>
              <a:tblGrid>
                <a:gridCol w="2103120"/>
                <a:gridCol w="3108960"/>
                <a:gridCol w="48463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Family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Models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Inference pattern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Flow-matching VLA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π0, π0.5, SmolVLA, GR00T N1.7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VLM prefix once + 4–10-step action-expert loop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Autoregressive VLA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OpenVLA, π0-FAST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VLM prefix + short LLM-style decode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Video world model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Cosmos-Predict2.5, Matrix-Game 2.0/3.0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Thousands of tokens denoised per step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World-action model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DreamZero, Flex-π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Video and action tokens denoised jointly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Latent-space MPC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V-JEPA 2-AC, TD-MPC2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Encode once, roll out hundreds of candidates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Baseline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Llama-3.1-8B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LLM prefill / decode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Roofline of every inference stage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Arithmetic intensity differs by more than 10× between stages of the same model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The same stage can be compute-bound on H100 but memory-bound on an edge SoC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Flow-matching action experts sit near LLM decode; video DiTs sit far to the right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Decompose models into stages before choosing an architecture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Bottleneck = Stage × Hardware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40" name="Figure 40" descr="roofline figur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34813" y="2926080"/>
            <a:ext cx="5722374" cy="35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Flow-matching VLA (π0, GR00T, SmolVLA)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VLM prefix runs once; a small action expert integrates an ODE over 4–10 steps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π0 on Thor: expert is 9% of FLOPs but 56% of latency (M = 51 GEMMs, ~60 FLOP/B)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Expert weights are only 97–415 MB in FP8 — small enough to consider on-chip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Not GEMV: each step is a 40–51-row GEMM, unlike LLM decode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VLA: The Action Expert Is Re-read Every Step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40" name="Figure 40" descr="pi0 figur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61360" y="2926080"/>
            <a:ext cx="5669280" cy="340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87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State kept between steps (KV cache / features)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VLA: 0.7–18 MB, fixed by sensor configuration, discarded at every replan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LLM: grows with context and batch (1 GB at 8K → 17 GB at 128K)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Only AR video models (Matrix-Game 2.0, DreamZero) keep a GB-scale window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No paged KV management needed: sizes are known at compile time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Persistent State Is Small and Fixed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40" name="Figure 40" descr="state figur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169920" y="3063240"/>
            <a:ext cx="5852160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965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Decision cost ≈ encoder + I × K × H × C_transition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Same “latent world model” label, but per-transition cost differs by 2,400–90,000×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The only robot workload that fills hardware with parallel candidates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Policy proposes, world model scores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Best-of-16 action chunks add only ~25% policy time on Thor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Latent Planning: State Representation Comes First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1066800" y="3154680"/>
          <a:ext cx="10058400" cy="1554480"/>
        </p:xfrm>
        <a:graphic>
          <a:graphicData uri="http://schemas.openxmlformats.org/drawingml/2006/table">
            <a:tbl>
              <a:tblPr firstRow="1"/>
              <a:tblGrid>
                <a:gridCol w="2743200"/>
                <a:gridCol w="329184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TD-MPC2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V-JEPA 2-AC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State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Compact latent vector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256 tokens × 1024-d per frame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Transition model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MLP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Transformer predictor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Planner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MPPI: 6 iters × 512 cand. × 3 steps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CEM: 10 iters × 400 cand. × 2 steps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Relative transition cost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1×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2,400–90,000×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~60 pre-2026 LLM techniques quantified per model family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Low precision (FP8 / FP4) helps every family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LLM-serving staples (paged KV, continuous batching, speculative decoding) barely help VLA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Weight-bandwidth techniques help VLA but not video world models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Video world models gain most from step distillation and cross-step reuse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Do LLM Acceleration Techniques Transfer?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40" name="Figure 40" descr="heat figur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15640" y="2926080"/>
            <a:ext cx="5760720" cy="331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16,384 MACs: one 128×128 WS array vs. 16 × 32×32 arrays with per-GEMM dataflow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VLA action loop (M = 41–51): 9–12% → 59–77% utilization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Video DiT, latent MPC and VLM prefill stay at 88–98% on small arrays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LLM decode: 0–8% on any systolic array — why LLM accelerators moved to GEMV / PIM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Weight residency pays off only with small arrays (π0 chunk 38.0 → 22.9 ms on Thor)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Systolic-Array Simulation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40" name="Figure 40" descr="systolic figur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169920" y="2926080"/>
            <a:ext cx="5852160" cy="32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Wan2.2-5B video trunk + 1B action expert; four streams denoised jointly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Prefill: 387 observed anchor tokens pass through the 5B trunk once per call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Decode: 4 Euler steps; action-only (32 tokens) or full joint (806 tokens)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Counted FLOPs match official RTX 5090 latency at 85–93% in joint modes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Prefill, not decode, dominates action-only latency on edge hardware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Case Study: Flex-π (6B World-Action Model)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40" name="Figure 40" descr="flexpi figure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706880" y="2971800"/>
            <a:ext cx="8778240" cy="338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Exact-equivalence optimizations found in the official code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Action-only prefill: top 7 of 30 trunk layers are dead code (26% of prefill)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Text cross-attention K/V recomputed every step, though constant per episode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Anchor K/V (143 MB) is a per-call step invariant, not a cross-call cache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Case Study: Flex-π Design Space (Thor-class)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1066800" y="2788920"/>
          <a:ext cx="10058400" cy="1865376"/>
        </p:xfrm>
        <a:graphic>
          <a:graphicData uri="http://schemas.openxmlformats.org/drawingml/2006/table">
            <a:tbl>
              <a:tblPr firstRow="1"/>
              <a:tblGrid>
                <a:gridCol w="4937760"/>
                <a:gridCol w="1691640"/>
                <a:gridCol w="1691640"/>
                <a:gridCol w="17373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Design (action-only mode, ms)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Prefill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Decode ×4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Total*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BF16 ideal (baseline)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36.5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30.7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72.0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LLM-style: FP8 + one 128×128 WS array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27.5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23.3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55.6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Small arrays + FP8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18.5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15.9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39.3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+ dead-layer removal + K/V hoisting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13.7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13.8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32.3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+ action expert resident on-chip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13.7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1.1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19.6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Table note"/>
          <p:cNvSpPr txBox="1"/>
          <p:nvPr/>
        </p:nvSpPr>
        <p:spPr>
          <a:xfrm>
            <a:off x="1066800" y="4700016"/>
            <a:ext cx="10058400" cy="320040"/>
          </a:xfrm>
          <a:prstGeom prst="rect">
            <a:avLst/>
          </a:prstGeom>
          <a:noFill/>
        </p:spPr>
        <p:txBody>
          <a:bodyPr wrap="square" lIns="0" rIns="0"/>
          <a:lstStyle/>
          <a:p>
            <a:r>
              <a:rPr lang="en-US" altLang="zh-TW" sz="1200" dirty="0">
                <a:solidFill>
                  <a:srgbClr val="595959"/>
                </a:solidFill>
              </a:rPr>
              <a:t>* Totals include 4.8 ms of encoders. Ideal roofline lower bounds; Thor peak is a derived estimate.</a:t>
            </a:r>
          </a:p>
        </p:txBody>
      </p:sp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Compute: many 32×32 arrays, OS/WS switching; no GEMV engine / PIM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Memory: two-tier weights; expert on-chip, trunk streamed in FP8/FP4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Provision DRAM for bandwidth, not capacity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State: statically allocated buffers; sizes known at compile time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Compiler: static schedule per mode; guaranteed worst-case latency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Front end: 3D-conv VAE; small attention unit with structured masks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Design Implications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1066800" y="3931920"/>
          <a:ext cx="10058400" cy="1243584"/>
        </p:xfrm>
        <a:graphic>
          <a:graphicData uri="http://schemas.openxmlformats.org/drawingml/2006/table">
            <a:tbl>
              <a:tblPr firstRow="1"/>
              <a:tblGrid>
                <a:gridCol w="3291840"/>
                <a:gridCol w="338328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Open spec decision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Option A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0000"/>
                          </a:solidFill>
                        </a:rPr>
                        <a:t>Option B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Support AR video world models?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Yes → GB-scale KV bandwidth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No → no KV memory needed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Action-expert weights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On-chip SRAM (≥ 0.4 GB)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Stream + batch candidates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Trunk precision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FP8 (still memory-bound)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solidFill>
                            <a:srgbClr val="000000"/>
                          </a:solidFill>
                        </a:rPr>
                        <a:t>FP4 (compute-bound prefill)</a:t>
                      </a:r>
                    </a:p>
                  </a:txBody>
                  <a:tcPr marL="68580" marR="6858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4950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Limitations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All latencies are ideal roofline / cycle-simulation lower bounds; no RTL or silicon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Flex-π checkpoint not executed; non-GEMM ops and inter-core traffic not modeled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Retracted after cross-review: Q-head pre-sampling speedup (equivalent, but no CPU speedup)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Future work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GPU measurement of π0 best-of-K (retract the bandwidth claim if K = 16 takes &gt; 2× K = 1)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Measure Flex-π dead-layer removal and K/V hoisting on GPU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Add non-GEMM latency and inter-core communication to the simulator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Limitations &amp; Future Work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0C21-ECAB-84A5-87AC-3F784266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5">
            <a:extLst>
              <a:ext uri="{FF2B5EF4-FFF2-40B4-BE49-F238E27FC236}">
                <a16:creationId xmlns:a16="http://schemas.microsoft.com/office/drawing/2014/main" id="{98A79EE8-057B-9F45-406A-BCEA24834930}"/>
              </a:ext>
            </a:extLst>
          </p:cNvPr>
          <p:cNvSpPr txBox="1">
            <a:spLocks/>
          </p:cNvSpPr>
          <p:nvPr/>
        </p:nvSpPr>
        <p:spPr bwMode="auto">
          <a:xfrm>
            <a:off x="609600" y="1175657"/>
            <a:ext cx="10972800" cy="4950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TW" sz="2400" dirty="0"/>
              <a:t>Questions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How much of the utilization gain do interconnect and control of many small arrays cost?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Is ≥ 0.4 GB of on-chip SRAM for expert weights worthwhile, or should candidate batching come first?</a:t>
            </a:r>
          </a:p>
          <a:p>
            <a:pPr lvl="1">
              <a:spcAft>
                <a:spcPts val="0"/>
              </a:spcAft>
            </a:pPr>
            <a:r>
              <a:rPr lang="en-US" altLang="zh-TW" sz="2000" dirty="0"/>
              <a:t>Which unit should a first RTL / FPGA prototype validate?</a:t>
            </a:r>
          </a:p>
          <a:p>
            <a:pPr>
              <a:spcAft>
                <a:spcPts val="0"/>
              </a:spcAft>
            </a:pPr>
            <a:r>
              <a:rPr lang="en-US" altLang="zh-TW" sz="2400" dirty="0"/>
              <a:t>Thank you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642BDC-5B19-506B-CC3D-CAF272E3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155"/>
            <a:ext cx="10972800" cy="582594"/>
          </a:xfrm>
        </p:spPr>
        <p:txBody>
          <a:bodyPr wrap="square" anchor="ctr">
            <a:normAutofit fontScale="90000"/>
          </a:bodyPr>
          <a:lstStyle/>
          <a:p>
            <a:r>
              <a:rPr lang="en-US" altLang="zh-TW" dirty="0"/>
              <a:t>Discussion</a:t>
            </a:r>
            <a:endParaRPr lang="en-US" altLang="zh-TW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B73AECC-E727-FB48-3345-1117D9DF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77C1-B770-47FB-877F-E631DD26508E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821465"/>
      </p:ext>
    </p:extLst>
  </p:cSld>
  <p:clrMapOvr>
    <a:masterClrMapping/>
  </p:clrMapOvr>
</p:sld>
</file>

<file path=ppt/theme/theme1.xml><?xml version="1.0" encoding="utf-8"?>
<a:theme xmlns:a="http://schemas.openxmlformats.org/drawingml/2006/main" name="VSP Lab slide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">
      <a:majorFont>
        <a:latin typeface="Noto Sans CJK TC Bold"/>
        <a:ea typeface="Noto Sans CJK TC Bold"/>
        <a:cs typeface=""/>
      </a:majorFont>
      <a:minorFont>
        <a:latin typeface="Noto Sans CJK TC Regular"/>
        <a:ea typeface="Noto Sans CJK T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SP Lab slide 1" id="{51D53EE2-805E-4DA6-AEF6-C1DD0F0CA14A}" vid="{EB26B7B2-920C-4DDE-A368-29A4536648D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279F053BA02E4F94D67DE04A4ECA34" ma:contentTypeVersion="9" ma:contentTypeDescription="Create a new document." ma:contentTypeScope="" ma:versionID="73187cd9e376a44e24289fef512b6343">
  <xsd:schema xmlns:xsd="http://www.w3.org/2001/XMLSchema" xmlns:xs="http://www.w3.org/2001/XMLSchema" xmlns:p="http://schemas.microsoft.com/office/2006/metadata/properties" xmlns:ns3="5fc3d4e6-f452-449b-b608-9f91deebd10c" targetNamespace="http://schemas.microsoft.com/office/2006/metadata/properties" ma:root="true" ma:fieldsID="1df3acd97b856b47a5b6af2a56b36184" ns3:_="">
    <xsd:import namespace="5fc3d4e6-f452-449b-b608-9f91deebd10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c3d4e6-f452-449b-b608-9f91deebd1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FC4E2A-9AAC-4D7F-95F3-46E76EFBA0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c3d4e6-f452-449b-b608-9f91deebd1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CA3220-4C56-4D8B-9059-8ECD92FE7543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5fc3d4e6-f452-449b-b608-9f91deebd10c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3E4E725-CB79-46AE-9E85-C5288E5359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vsplab</Template>
  <TotalTime>20111</TotalTime>
  <Words>474</Words>
  <Application>Microsoft Office PowerPoint</Application>
  <PresentationFormat>寬螢幕</PresentationFormat>
  <Paragraphs>96</Paragraphs>
  <Slides>13</Slides>
  <Notes>12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Noto Sans CJK TC Bold</vt:lpstr>
      <vt:lpstr>Noto Sans CJK TC Regular</vt:lpstr>
      <vt:lpstr>Arial</vt:lpstr>
      <vt:lpstr>Calibri</vt:lpstr>
      <vt:lpstr>Times New Roman</vt:lpstr>
      <vt:lpstr>VSP Lab slide 1</vt:lpstr>
      <vt:lpstr>AccelCIM: Systematic Dataflow Exploration for SRAM Compute-in-Memory Accelerator</vt:lpstr>
      <vt:lpstr>Introduction</vt:lpstr>
      <vt:lpstr>AccelCIM Framework Overview</vt:lpstr>
      <vt:lpstr>Systematic Design Space</vt:lpstr>
      <vt:lpstr>Systematic Design Space</vt:lpstr>
      <vt:lpstr>Systematic Design Space</vt:lpstr>
      <vt:lpstr>Systematic Design Space</vt:lpstr>
      <vt:lpstr>Systematic Design Space</vt:lpstr>
      <vt:lpstr>CIM Macro Array Generator</vt:lpstr>
      <vt:lpstr>Evaluation</vt:lpstr>
      <vt:lpstr>Evaluation</vt:lpstr>
      <vt:lpstr>Evaluation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連samba</dc:title>
  <dc:creator>user</dc:creator>
  <cp:lastModifiedBy>陳昇達</cp:lastModifiedBy>
  <cp:revision>372</cp:revision>
  <dcterms:created xsi:type="dcterms:W3CDTF">2022-09-07T11:53:23Z</dcterms:created>
  <dcterms:modified xsi:type="dcterms:W3CDTF">2026-05-05T09:25:04Z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0x01010061279F053BA02E4F94D67DE04A4ECA34</vt:lpwstr>
  </property>
</Properties>
</file>